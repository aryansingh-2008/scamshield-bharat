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4114800" cy="365760"/>
          </a:xfrm>
          <a:prstGeom prst="roundRect">
            <a:avLst/>
          </a:prstGeom>
          <a:solidFill>
            <a:srgbClr val="0F3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SANGYAN — INVESTOR RESILIENCE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0F3B5C"/>
                </a:solidFill>
                <a:latin typeface="Arial"/>
              </a:defRPr>
            </a:pPr>
            <a:r>
              <a:t>SCAMSHIELD BHARAT</a:t>
            </a:r>
          </a:p>
          <a:p>
            <a:pPr>
              <a:spcAft>
                <a:spcPts val="800"/>
              </a:spcAft>
              <a:defRPr sz="1800" b="1">
                <a:solidFill>
                  <a:srgbClr val="164E78"/>
                </a:solidFill>
                <a:latin typeface="Arial"/>
              </a:defRPr>
            </a:pPr>
            <a:r>
              <a:t>“Check the claim before you act.”</a:t>
            </a:r>
          </a:p>
          <a:p>
            <a:pPr>
              <a:defRPr sz="1300">
                <a:solidFill>
                  <a:srgbClr val="1E293B"/>
                </a:solidFill>
                <a:latin typeface="Arial"/>
              </a:defRPr>
            </a:pPr>
            <a:r>
              <a:t>Evidence-first investor safety console for checking suspicious financial messages, screenshots, and web links against trusted regulatory records.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4720"/>
            <a:ext cx="3291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2926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64E78"/>
                </a:solidFill>
                <a:latin typeface="Arial"/>
              </a:defRPr>
            </a:pPr>
            <a:r>
              <a:t>🏛️ ORGANIZED BY</a:t>
            </a:r>
          </a:p>
          <a:p>
            <a:pPr>
              <a:defRPr sz="1000">
                <a:solidFill>
                  <a:srgbClr val="1E293B"/>
                </a:solidFill>
                <a:latin typeface="Arial"/>
              </a:defRPr>
            </a:pPr>
            <a:r>
              <a:t>• SNTC, IIT (BHU) Varanasi</a:t>
            </a:r>
            <a:br/>
            <a:r>
              <a:t>• In Collaboration With:</a:t>
            </a:r>
            <a:br/>
            <a:r>
              <a:t>  - SEBI (Securities &amp; Exchange Board of India)</a:t>
            </a:r>
            <a:br/>
            <a:r>
              <a:t>  - NSDL (National Securities Depository Limited)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474720"/>
            <a:ext cx="3291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3657600"/>
            <a:ext cx="2926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64E78"/>
                </a:solidFill>
                <a:latin typeface="Arial"/>
              </a:defRPr>
            </a:pPr>
            <a:r>
              <a:t>🛡️ PRODUCT SCOPE</a:t>
            </a:r>
          </a:p>
          <a:p>
            <a:pPr>
              <a:defRPr sz="1000">
                <a:solidFill>
                  <a:srgbClr val="1E293B"/>
                </a:solidFill>
                <a:latin typeface="Arial"/>
              </a:defRPr>
            </a:pPr>
            <a:r>
              <a:t>• Multimodal Ingestion (Text, Screenshot, Link)</a:t>
            </a:r>
            <a:br/>
            <a:r>
              <a:t>• Bilingual Bharat Interface (Hindi / English)</a:t>
            </a:r>
            <a:br/>
            <a:r>
              <a:t>• Deterministic 20-Signal Risk Engine</a:t>
            </a:r>
            <a:br/>
            <a:r>
              <a:t>• Official Regulatory Evidence Trail</a:t>
            </a:r>
            <a:br/>
            <a:r>
              <a:t>• 5 Calm, Actionable Next Steps (1930 Helpline)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3474720"/>
            <a:ext cx="33832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3657600"/>
            <a:ext cx="3017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64E78"/>
                </a:solidFill>
                <a:latin typeface="Arial"/>
              </a:defRPr>
            </a:pPr>
            <a:r>
              <a:t>🌐 LIVE SUBMISSION</a:t>
            </a:r>
          </a:p>
          <a:p>
            <a:pPr>
              <a:defRPr sz="1000">
                <a:solidFill>
                  <a:srgbClr val="1E293B"/>
                </a:solidFill>
                <a:latin typeface="Arial"/>
              </a:defRPr>
            </a:pPr>
            <a:r>
              <a:t>• Live Web Console:</a:t>
            </a:r>
            <a:br/>
            <a:r>
              <a:t>  https://scamshield-bharat-kappa.vercel.app/</a:t>
            </a:r>
            <a:br/>
            <a:r>
              <a:t>• Open Source GitHub:</a:t>
            </a:r>
            <a:br/>
            <a:r>
              <a:t>  github.com/aryansingh-2008/scamshield-bharat</a:t>
            </a:r>
            <a:br/>
            <a:r>
              <a:t>• Engineering Verification:</a:t>
            </a:r>
            <a:br/>
            <a:r>
              <a:t>  79/79 Automated Tests | 54/54 Red-Team Passes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SOURCE / CONTEXT: SANGYAN Official Hackathon Portal (https://sangyan.sntciitbhu.co.in/) | Participant Charter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64E78"/>
                </a:solidFill>
                <a:latin typeface="Arial"/>
              </a:defRPr>
            </a:pPr>
            <a:r>
              <a:t>PROBLEM STATEMENT</a:t>
            </a:r>
          </a:p>
          <a:p>
            <a:pPr>
              <a:spcAft>
                <a:spcPts val="200"/>
              </a:spcAft>
              <a:defRPr sz="2000" b="1">
                <a:solidFill>
                  <a:srgbClr val="1E293B"/>
                </a:solidFill>
                <a:latin typeface="Arial"/>
              </a:defRPr>
            </a:pPr>
            <a:r>
              <a:t>THE MOMENT BEFORE MONEY LEAVES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Retail investors face coordinated psychological pressure and fraudulent digital traps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DC2626"/>
                </a:solidFill>
                <a:latin typeface="Arial"/>
              </a:defRPr>
            </a:pPr>
            <a:r>
              <a:t>CRITICAL FINANCIAL FRAUD VECTORS IN BHARAT</a:t>
            </a:r>
          </a:p>
          <a:p>
            <a:pPr>
              <a:spcAft>
                <a:spcPts val="600"/>
              </a:spcAft>
              <a:defRPr sz="1000" b="1">
                <a:solidFill>
                  <a:srgbClr val="1E293B"/>
                </a:solidFill>
                <a:latin typeface="Arial"/>
              </a:defRPr>
            </a:pPr>
            <a:r>
              <a:t>• Guaranteed Return Tipping Scams: </a:t>
            </a:r>
            <a:r>
              <a:rPr b="0" sz="950">
                <a:solidFill>
                  <a:srgbClr val="64748B"/>
                </a:solidFill>
              </a:rPr>
              <a:t>Unregistered operators promise '300% monthly returns' on Telegram/WhatsApp VIP channels, citing fake institutional allocations.</a:t>
            </a:r>
          </a:p>
          <a:p>
            <a:pPr>
              <a:spcAft>
                <a:spcPts val="600"/>
              </a:spcAft>
              <a:defRPr sz="1000" b="1">
                <a:solidFill>
                  <a:srgbClr val="1E293B"/>
                </a:solidFill>
                <a:latin typeface="Arial"/>
              </a:defRPr>
            </a:pPr>
            <a:r>
              <a:t>• Regulatory &amp; Authority Impersonation: </a:t>
            </a:r>
            <a:r>
              <a:rPr b="0" sz="950">
                <a:solidFill>
                  <a:srgbClr val="64748B"/>
                </a:solidFill>
              </a:rPr>
              <a:t>Fraudsters forge SEBI certificates, RBI letters, and police badges to threaten victims with immediate arrest or tax penalties.</a:t>
            </a:r>
          </a:p>
          <a:p>
            <a:pPr>
              <a:spcAft>
                <a:spcPts val="600"/>
              </a:spcAft>
              <a:defRPr sz="1000" b="1">
                <a:solidFill>
                  <a:srgbClr val="1E293B"/>
                </a:solidFill>
                <a:latin typeface="Arial"/>
              </a:defRPr>
            </a:pPr>
            <a:r>
              <a:t>• Urgency &amp; Account Suspension Panics: </a:t>
            </a:r>
            <a:r>
              <a:rPr b="0" sz="950">
                <a:solidFill>
                  <a:srgbClr val="64748B"/>
                </a:solidFill>
              </a:rPr>
              <a:t>Coercive SMS alerts claim 'Trading account blocked tonight due to incomplete KYC' with clone phishing links.</a:t>
            </a:r>
          </a:p>
          <a:p>
            <a:pPr>
              <a:spcAft>
                <a:spcPts val="600"/>
              </a:spcAft>
              <a:defRPr sz="1000" b="1">
                <a:solidFill>
                  <a:srgbClr val="1E293B"/>
                </a:solidFill>
                <a:latin typeface="Arial"/>
              </a:defRPr>
            </a:pPr>
            <a:r>
              <a:t>• Malicious APK Sideloading: </a:t>
            </a:r>
            <a:r>
              <a:rPr b="0" sz="950">
                <a:solidFill>
                  <a:srgbClr val="64748B"/>
                </a:solidFill>
              </a:rPr>
              <a:t>Victims are instructed to install customized APK files or screen-sharing tools (AnyDesk/QuickSupport) to drain bank accounts.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DC2626"/>
                </a:solidFill>
                <a:latin typeface="Arial"/>
              </a:defRPr>
            </a:pPr>
            <a:r>
              <a:t>ANATOMY OF A COMMON ATTACK (REALISTIC EXAMPLE)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03120"/>
            <a:ext cx="48463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19456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64748B"/>
                </a:solidFill>
                <a:latin typeface="Arial"/>
              </a:defRPr>
            </a:pPr>
            <a:r>
              <a:t>📩 Incoming WhatsApp Forward:</a:t>
            </a:r>
          </a:p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“🔥 VIP SEBI INSTITUTIONAL DESK 🔥</a:t>
            </a:r>
            <a:br/>
            <a:r>
              <a:t>Deposit ₹50,000 today into direct pool account. Guaranteed 500% profit in 48 hours. Only 2 seats left! Transfer immediately to UPI: sebi-desk@okhdfcbank or install SEBI-Trading-App.apk.”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2976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F3B5C"/>
                </a:solidFill>
                <a:latin typeface="Arial"/>
              </a:defRPr>
            </a:pPr>
            <a:r>
              <a:t>THE CORE GAP IN INVESTOR DEFENSE: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When victims receive this message, they have no easy, instant way to cross-examine claims against official regulatory registries before money is transferred. Traditional advisory portals are siloed, complex, and unapproachable during high-pressure situations.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SOURCE / CONTEXT: SANGYAN Problem Statement | SEBI Fake Trading App &amp; Social Media Fraud Advisory (investor.sebi.gov.in)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64E78"/>
                </a:solidFill>
                <a:latin typeface="Arial"/>
              </a:defRPr>
            </a:pPr>
            <a:r>
              <a:t>TARGET AUDIENCE</a:t>
            </a:r>
          </a:p>
          <a:p>
            <a:pPr>
              <a:spcAft>
                <a:spcPts val="200"/>
              </a:spcAft>
              <a:defRPr sz="2000" b="1">
                <a:solidFill>
                  <a:srgbClr val="1E293B"/>
                </a:solidFill>
                <a:latin typeface="Arial"/>
              </a:defRPr>
            </a:pPr>
            <a:r>
              <a:t>A FIRST-TIME INVESTOR SHOULD NOT NEED TO BE A CYBERSECURITY EXPERT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Designed for the realities of emerging retail digital investors across Bharat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164E78"/>
                </a:solidFill>
                <a:latin typeface="Arial"/>
              </a:defRPr>
            </a:pPr>
            <a:r>
              <a:t>PRIMARY PERSONA</a:t>
            </a:r>
          </a:p>
          <a:p>
            <a:pPr>
              <a:spcAft>
                <a:spcPts val="800"/>
              </a:spcAft>
              <a:defRPr sz="1300" b="1">
                <a:solidFill>
                  <a:srgbClr val="0F3B5C"/>
                </a:solidFill>
                <a:latin typeface="Arial"/>
              </a:defRPr>
            </a:pPr>
            <a:r>
              <a:t>Tier-2 / Tier-3 Retail Investors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First generation navigating smartphone trading and Demat apps.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Heavily reliant on WhatsApp, Telegram, and YouTube tipping channels.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Needs simple Hindi/English explanations without dense legal jargon.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164E78"/>
                </a:solidFill>
                <a:latin typeface="Arial"/>
              </a:defRPr>
            </a:pPr>
            <a:r>
              <a:t>HIGH-RISK PROFILE</a:t>
            </a:r>
          </a:p>
          <a:p>
            <a:pPr>
              <a:spcAft>
                <a:spcPts val="800"/>
              </a:spcAft>
              <a:defRPr sz="1300" b="1">
                <a:solidFill>
                  <a:srgbClr val="0F3B5C"/>
                </a:solidFill>
                <a:latin typeface="Arial"/>
              </a:defRPr>
            </a:pPr>
            <a:r>
              <a:t>Senior Citizens &amp; Families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Targeted by coercive digital arrest scams and account block threats.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Unfamiliar with official verification portals (SCORES, Sachet).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Needs high-contrast readability and direct 1-click 1930 Helpline access.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164E78"/>
                </a:solidFill>
                <a:latin typeface="Arial"/>
              </a:defRPr>
            </a:pPr>
            <a:r>
              <a:t>EMERGING DIGITAL USER</a:t>
            </a:r>
          </a:p>
          <a:p>
            <a:pPr>
              <a:spcAft>
                <a:spcPts val="800"/>
              </a:spcAft>
              <a:defRPr sz="1300" b="1">
                <a:solidFill>
                  <a:srgbClr val="0F3B5C"/>
                </a:solidFill>
                <a:latin typeface="Arial"/>
              </a:defRPr>
            </a:pPr>
            <a:r>
              <a:t>Digital Banking Beginners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Prone to installing screen-sharing APKs disguised as bank customer care.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Pressured by artificial urgency (e.g. 'KYC expires in 15 mins').</a:t>
            </a:r>
          </a:p>
          <a:p>
            <a:pPr>
              <a:spcAft>
                <a:spcPts val="6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Needs calm 5-step action guidance (Stop, Protect, Verify, Report, Recover).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SOURCE / CONTEXT: SANGYAN Participant Charter — Investor Resilience &amp; Tier-2/3 Financial Inclusion Criteria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64E78"/>
                </a:solidFill>
                <a:latin typeface="Arial"/>
              </a:defRPr>
            </a:pPr>
            <a:r>
              <a:t>SOLUTION ARCHITECTURE</a:t>
            </a:r>
          </a:p>
          <a:p>
            <a:pPr>
              <a:spcAft>
                <a:spcPts val="200"/>
              </a:spcAft>
              <a:defRPr sz="2000" b="1">
                <a:solidFill>
                  <a:srgbClr val="1E293B"/>
                </a:solidFill>
                <a:latin typeface="Arial"/>
              </a:defRPr>
            </a:pPr>
            <a:r>
              <a:t>FROM SUSPICION TO EVIDENCE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ScamShield acts as a pre-action investor safety layer, not an investment advisor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64E78"/>
                </a:solidFill>
                <a:latin typeface="Arial"/>
              </a:defRPr>
            </a:pPr>
            <a:r>
              <a:t>1. Ingestion</a:t>
            </a:r>
          </a:p>
          <a:p>
            <a:pPr>
              <a:defRPr sz="1000">
                <a:solidFill>
                  <a:srgbClr val="1E293B"/>
                </a:solidFill>
                <a:latin typeface="Arial"/>
              </a:defRPr>
            </a:pPr>
            <a:r>
              <a:t>Untrusted Message, Screenshot, or URL link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64E78"/>
                </a:solidFill>
                <a:latin typeface="Arial"/>
              </a:defRPr>
            </a:pPr>
            <a:r>
              <a:t>2. Claim Extraction</a:t>
            </a:r>
          </a:p>
          <a:p>
            <a:pPr>
              <a:defRPr sz="1000">
                <a:solidFill>
                  <a:srgbClr val="1E293B"/>
                </a:solidFill>
                <a:latin typeface="Arial"/>
              </a:defRPr>
            </a:pPr>
            <a:r>
              <a:t>Isolates returns, deadlines &amp; entity endorsements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64E78"/>
                </a:solidFill>
                <a:latin typeface="Arial"/>
              </a:defRPr>
            </a:pPr>
            <a:r>
              <a:t>3. Risk Engine</a:t>
            </a:r>
          </a:p>
          <a:p>
            <a:pPr>
              <a:defRPr sz="1000">
                <a:solidFill>
                  <a:srgbClr val="1E293B"/>
                </a:solidFill>
                <a:latin typeface="Arial"/>
              </a:defRPr>
            </a:pPr>
            <a:r>
              <a:t>20 Deterministic signals in English &amp; Devanagari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338328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4048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64E78"/>
                </a:solidFill>
                <a:latin typeface="Arial"/>
              </a:defRPr>
            </a:pPr>
            <a:r>
              <a:t>4. Official Evidence</a:t>
            </a:r>
          </a:p>
          <a:p>
            <a:pPr>
              <a:defRPr sz="1000">
                <a:solidFill>
                  <a:srgbClr val="1E293B"/>
                </a:solidFill>
                <a:latin typeface="Arial"/>
              </a:defRPr>
            </a:pPr>
            <a:r>
              <a:t>Cross-examined with SEBI, RBI, MCA &amp; CERT-In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3657600"/>
            <a:ext cx="338328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384048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64E78"/>
                </a:solidFill>
                <a:latin typeface="Arial"/>
              </a:defRPr>
            </a:pPr>
            <a:r>
              <a:t>5. Uncertainty Check</a:t>
            </a:r>
          </a:p>
          <a:p>
            <a:pPr>
              <a:defRPr sz="1000">
                <a:solidFill>
                  <a:srgbClr val="1E293B"/>
                </a:solidFill>
                <a:latin typeface="Arial"/>
              </a:defRPr>
            </a:pPr>
            <a:r>
              <a:t>Explicit disclosure of unverified claims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657600"/>
            <a:ext cx="338328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3840480"/>
            <a:ext cx="3017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64E78"/>
                </a:solidFill>
                <a:latin typeface="Arial"/>
              </a:defRPr>
            </a:pPr>
            <a:r>
              <a:t>6. Safe Next Steps</a:t>
            </a:r>
          </a:p>
          <a:p>
            <a:pPr>
              <a:defRPr sz="1000">
                <a:solidFill>
                  <a:srgbClr val="1E293B"/>
                </a:solidFill>
                <a:latin typeface="Arial"/>
              </a:defRPr>
            </a:pPr>
            <a:r>
              <a:t>Calm action protocol + 1930 Cyber Helpline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03520"/>
            <a:ext cx="10728655" cy="82296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16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9496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3B5C"/>
                </a:solidFill>
                <a:latin typeface="Arial"/>
              </a:defRPr>
            </a:pPr>
            <a:r>
              <a:t>CORE DISTINCTION: PRE-ACTION SAFETY LAYER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ScamShield does not give stock ratings, price predictions, or buy/sell calls. It provides an institutional verification buffer that arms investors with official evidence before they click, deposit, or share credentials.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SOURCE / CONTEXT: ScamShield Bharat Decision Pipeline Architecture | Verified Codebase (src/lib/risk-engine.ts)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64E78"/>
                </a:solidFill>
                <a:latin typeface="Arial"/>
              </a:defRPr>
            </a:pPr>
            <a:r>
              <a:t>USER EXPERIENCE FLOW</a:t>
            </a:r>
          </a:p>
          <a:p>
            <a:pPr>
              <a:spcAft>
                <a:spcPts val="200"/>
              </a:spcAft>
              <a:defRPr sz="2000" b="1">
                <a:solidFill>
                  <a:srgbClr val="1E293B"/>
                </a:solidFill>
                <a:latin typeface="Arial"/>
              </a:defRPr>
            </a:pPr>
            <a:r>
              <a:t>ONE MESSAGE. ONE SAFETY CHECK.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A seamless, 7-step inspection journey designed for speed and clarity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4630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280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64E78"/>
                </a:solidFill>
                <a:latin typeface="Arial"/>
              </a:defRPr>
            </a:pPr>
            <a:r>
              <a:t>Step 1</a:t>
            </a:r>
          </a:p>
          <a:p>
            <a:pPr>
              <a:spcAft>
                <a:spcPts val="600"/>
              </a:spcAft>
              <a:defRPr sz="1100" b="1">
                <a:solidFill>
                  <a:srgbClr val="0F3B5C"/>
                </a:solidFill>
                <a:latin typeface="Arial"/>
              </a:defRPr>
            </a:pPr>
            <a:r>
              <a:t>Receive Suspicious Tip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User receives urgent forward or screenshot on WhatsApp/Telegram.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67712" y="1463040"/>
            <a:ext cx="14630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59152" y="1645920"/>
            <a:ext cx="1280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64E78"/>
                </a:solidFill>
                <a:latin typeface="Arial"/>
              </a:defRPr>
            </a:pPr>
            <a:r>
              <a:t>Step 2</a:t>
            </a:r>
          </a:p>
          <a:p>
            <a:pPr>
              <a:spcAft>
                <a:spcPts val="600"/>
              </a:spcAft>
              <a:defRPr sz="1100" b="1">
                <a:solidFill>
                  <a:srgbClr val="0F3B5C"/>
                </a:solidFill>
                <a:latin typeface="Arial"/>
              </a:defRPr>
            </a:pPr>
            <a:r>
              <a:t>Submit to ScamShield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Pastes text, uploads screenshot, or inputs suspicious link (no login required).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3904" y="1463040"/>
            <a:ext cx="14630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95344" y="1645920"/>
            <a:ext cx="1280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64E78"/>
                </a:solidFill>
                <a:latin typeface="Arial"/>
              </a:defRPr>
            </a:pPr>
            <a:r>
              <a:t>Step 3</a:t>
            </a:r>
          </a:p>
          <a:p>
            <a:pPr>
              <a:spcAft>
                <a:spcPts val="600"/>
              </a:spcAft>
              <a:defRPr sz="1100" b="1">
                <a:solidFill>
                  <a:srgbClr val="0F3B5C"/>
                </a:solidFill>
                <a:latin typeface="Arial"/>
              </a:defRPr>
            </a:pPr>
            <a:r>
              <a:t>In-Memory PII Redaction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Aadhaar, PAN, UPI IDs, and phone numbers are scrubbed locally.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0096" y="1463040"/>
            <a:ext cx="14630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31536" y="1645920"/>
            <a:ext cx="1280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64E78"/>
                </a:solidFill>
                <a:latin typeface="Arial"/>
              </a:defRPr>
            </a:pPr>
            <a:r>
              <a:t>Step 4</a:t>
            </a:r>
          </a:p>
          <a:p>
            <a:pPr>
              <a:spcAft>
                <a:spcPts val="600"/>
              </a:spcAft>
              <a:defRPr sz="1100" b="1">
                <a:solidFill>
                  <a:srgbClr val="0F3B5C"/>
                </a:solidFill>
                <a:latin typeface="Arial"/>
              </a:defRPr>
            </a:pPr>
            <a:r>
              <a:t>Deterministic Scan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Risk engine checks 20 calibrated patterns in English and Hindi.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76288" y="1463040"/>
            <a:ext cx="14630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67728" y="1645920"/>
            <a:ext cx="1280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64E78"/>
                </a:solidFill>
                <a:latin typeface="Arial"/>
              </a:defRPr>
            </a:pPr>
            <a:r>
              <a:t>Step 5</a:t>
            </a:r>
          </a:p>
          <a:p>
            <a:pPr>
              <a:spcAft>
                <a:spcPts val="600"/>
              </a:spcAft>
              <a:defRPr sz="1100" b="1">
                <a:solidFill>
                  <a:srgbClr val="0F3B5C"/>
                </a:solidFill>
                <a:latin typeface="Arial"/>
              </a:defRPr>
            </a:pPr>
            <a:r>
              <a:t>Evidence Cross-Exam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Claims matched against SEBI circulars and official registries.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1463040"/>
            <a:ext cx="14630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1645920"/>
            <a:ext cx="1280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64E78"/>
                </a:solidFill>
                <a:latin typeface="Arial"/>
              </a:defRPr>
            </a:pPr>
            <a:r>
              <a:t>Step 6</a:t>
            </a:r>
          </a:p>
          <a:p>
            <a:pPr>
              <a:spcAft>
                <a:spcPts val="600"/>
              </a:spcAft>
              <a:defRPr sz="1100" b="1">
                <a:solidFill>
                  <a:srgbClr val="0F3B5C"/>
                </a:solidFill>
                <a:latin typeface="Arial"/>
              </a:defRPr>
            </a:pPr>
            <a:r>
              <a:t>Uncertainty Surfaced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System explicitly states what could and could not be verified.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48672" y="1463040"/>
            <a:ext cx="14630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40112" y="1645920"/>
            <a:ext cx="1280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64E78"/>
                </a:solidFill>
                <a:latin typeface="Arial"/>
              </a:defRPr>
            </a:pPr>
            <a:r>
              <a:t>Step 7</a:t>
            </a:r>
          </a:p>
          <a:p>
            <a:pPr>
              <a:spcAft>
                <a:spcPts val="600"/>
              </a:spcAft>
              <a:defRPr sz="1100" b="1">
                <a:solidFill>
                  <a:srgbClr val="0F3B5C"/>
                </a:solidFill>
                <a:latin typeface="Arial"/>
              </a:defRPr>
            </a:pPr>
            <a:r>
              <a:t>Calm Next Actions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User receives 5 safe steps: Stop, Protect, Verify, Report (1930), Recover.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SOURCE / CONTEXT: Actual ScamShield Product Flow | Verified Deployment at https://scamshield-bharat-kappa.vercel.app/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64E78"/>
                </a:solidFill>
                <a:latin typeface="Arial"/>
              </a:defRPr>
            </a:pPr>
            <a:r>
              <a:t>DETECTION CAPABILITIES</a:t>
            </a:r>
          </a:p>
          <a:p>
            <a:pPr>
              <a:spcAft>
                <a:spcPts val="200"/>
              </a:spcAft>
              <a:defRPr sz="2000" b="1">
                <a:solidFill>
                  <a:srgbClr val="1E293B"/>
                </a:solidFill>
                <a:latin typeface="Arial"/>
              </a:defRPr>
            </a:pPr>
            <a:r>
              <a:t>RISK SIGNALS THAT MATTER BEFORE ACTION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20 calibrated domain detectors cross-examined with regulatory baselines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5603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DC2626"/>
                </a:solidFill>
                <a:latin typeface="Arial"/>
              </a:defRPr>
            </a:pPr>
            <a:r>
              <a:t>[CRITICAL]</a:t>
            </a:r>
          </a:p>
          <a:p>
            <a:pPr>
              <a:spcAft>
                <a:spcPts val="400"/>
              </a:spcAft>
              <a:defRPr sz="1100" b="1">
                <a:solidFill>
                  <a:srgbClr val="0F3B5C"/>
                </a:solidFill>
                <a:latin typeface="Arial"/>
              </a:defRPr>
            </a:pPr>
            <a:r>
              <a:t>Guaranteed / Fixed Returns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Claims of assured 300% monthly profits or 'zero-risk' market investments.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463040"/>
            <a:ext cx="25603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6002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D97706"/>
                </a:solidFill>
                <a:latin typeface="Arial"/>
              </a:defRPr>
            </a:pPr>
            <a:r>
              <a:t>[HIGH]</a:t>
            </a:r>
          </a:p>
          <a:p>
            <a:pPr>
              <a:spcAft>
                <a:spcPts val="400"/>
              </a:spcAft>
              <a:defRPr sz="1100" b="1">
                <a:solidFill>
                  <a:srgbClr val="0F3B5C"/>
                </a:solidFill>
                <a:latin typeface="Arial"/>
              </a:defRPr>
            </a:pPr>
            <a:r>
              <a:t>Urgency &amp; Artificial Pressure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Countdown deadlines ('expires in 15 mins', 'only 2 seats remaining').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25603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002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DC2626"/>
                </a:solidFill>
                <a:latin typeface="Arial"/>
              </a:defRPr>
            </a:pPr>
            <a:r>
              <a:t>[CRITICAL]</a:t>
            </a:r>
          </a:p>
          <a:p>
            <a:pPr>
              <a:spcAft>
                <a:spcPts val="400"/>
              </a:spcAft>
              <a:defRPr sz="1100" b="1">
                <a:solidFill>
                  <a:srgbClr val="0F3B5C"/>
                </a:solidFill>
                <a:latin typeface="Arial"/>
              </a:defRPr>
            </a:pPr>
            <a:r>
              <a:t>Regulatory Impersonation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Fraudulent use of SEBI, RBI, MCA, or NSE/BSE logos, licenses, and names.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463040"/>
            <a:ext cx="25603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600200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DC2626"/>
                </a:solidFill>
                <a:latin typeface="Arial"/>
              </a:defRPr>
            </a:pPr>
            <a:r>
              <a:t>[CRITICAL]</a:t>
            </a:r>
          </a:p>
          <a:p>
            <a:pPr>
              <a:spcAft>
                <a:spcPts val="400"/>
              </a:spcAft>
              <a:defRPr sz="1100" b="1">
                <a:solidFill>
                  <a:srgbClr val="0F3B5C"/>
                </a:solidFill>
                <a:latin typeface="Arial"/>
              </a:defRPr>
            </a:pPr>
            <a:r>
              <a:t>Third-Party / Mule UPI Accounts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Directing funds to personal UPI handles or savings accounts instead of brokers.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39"/>
            <a:ext cx="25603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886199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D97706"/>
                </a:solidFill>
                <a:latin typeface="Arial"/>
              </a:defRPr>
            </a:pPr>
            <a:r>
              <a:t>[HIGH]</a:t>
            </a:r>
          </a:p>
          <a:p>
            <a:pPr>
              <a:spcAft>
                <a:spcPts val="400"/>
              </a:spcAft>
              <a:defRPr sz="1100" b="1">
                <a:solidFill>
                  <a:srgbClr val="0F3B5C"/>
                </a:solidFill>
                <a:latin typeface="Arial"/>
              </a:defRPr>
            </a:pPr>
            <a:r>
              <a:t>Telegram &amp; WhatsApp Funnels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Diverting public users into private unmonitored VIP groups for trading tips.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3749039"/>
            <a:ext cx="25603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3886199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DC2626"/>
                </a:solidFill>
                <a:latin typeface="Arial"/>
              </a:defRPr>
            </a:pPr>
            <a:r>
              <a:t>[CRITICAL]</a:t>
            </a:r>
          </a:p>
          <a:p>
            <a:pPr>
              <a:spcAft>
                <a:spcPts val="400"/>
              </a:spcAft>
              <a:defRPr sz="1100" b="1">
                <a:solidFill>
                  <a:srgbClr val="0F3B5C"/>
                </a:solidFill>
                <a:latin typeface="Arial"/>
              </a:defRPr>
            </a:pPr>
            <a:r>
              <a:t>Malicious APK &amp; Screen Sharing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Urging installation of sideloaded apps, AnyDesk, or QuickSupport tools.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749039"/>
            <a:ext cx="25603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86199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DC2626"/>
                </a:solidFill>
                <a:latin typeface="Arial"/>
              </a:defRPr>
            </a:pPr>
            <a:r>
              <a:t>[CRITICAL]</a:t>
            </a:r>
          </a:p>
          <a:p>
            <a:pPr>
              <a:spcAft>
                <a:spcPts val="400"/>
              </a:spcAft>
              <a:defRPr sz="1100" b="1">
                <a:solidFill>
                  <a:srgbClr val="0F3B5C"/>
                </a:solidFill>
                <a:latin typeface="Arial"/>
              </a:defRPr>
            </a:pPr>
            <a:r>
              <a:t>Fake KYC &amp; Digital Arrest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Coercive claims of account freeze, narcotics packages, or police warrants.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3749039"/>
            <a:ext cx="256032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3886199"/>
            <a:ext cx="2286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850" b="1">
                <a:solidFill>
                  <a:srgbClr val="DC2626"/>
                </a:solidFill>
                <a:latin typeface="Arial"/>
              </a:defRPr>
            </a:pPr>
            <a:r>
              <a:t>[CRITICAL]</a:t>
            </a:r>
          </a:p>
          <a:p>
            <a:pPr>
              <a:spcAft>
                <a:spcPts val="400"/>
              </a:spcAft>
              <a:defRPr sz="1100" b="1">
                <a:solidFill>
                  <a:srgbClr val="0F3B5C"/>
                </a:solidFill>
                <a:latin typeface="Arial"/>
              </a:defRPr>
            </a:pPr>
            <a:r>
              <a:t>Credential &amp; OTP Demands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Direct requests for trading PINs, netbanking passwords, or SMS OTPs.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SOURCE / CONTEXT: Deterministic Detection Engine Rules (src/lib/risk-engine.ts) | SEBI Prohibited Schemes Framework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64E78"/>
                </a:solidFill>
                <a:latin typeface="Arial"/>
              </a:defRPr>
            </a:pPr>
            <a:r>
              <a:t>CORE INNOVATION</a:t>
            </a:r>
          </a:p>
          <a:p>
            <a:pPr>
              <a:spcAft>
                <a:spcPts val="200"/>
              </a:spcAft>
              <a:defRPr sz="2000" b="1">
                <a:solidFill>
                  <a:srgbClr val="1E293B"/>
                </a:solidFill>
                <a:latin typeface="Arial"/>
              </a:defRPr>
            </a:pPr>
            <a:r>
              <a:t>NOT “AI SAYS SCAM.” SHOW THE EVIDENCE.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Separating untrusted claims from official regulatory truth via the Evidence Trail matrix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377440" cy="548640"/>
          </a:xfrm>
          <a:prstGeom prst="roundRect">
            <a:avLst/>
          </a:prstGeom>
          <a:solidFill>
            <a:srgbClr val="0F3B5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USER CLAIM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463040"/>
            <a:ext cx="2560320" cy="548640"/>
          </a:xfrm>
          <a:prstGeom prst="roundRect">
            <a:avLst/>
          </a:prstGeom>
          <a:solidFill>
            <a:srgbClr val="0F3B5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0" y="15087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TRUSTED SOURCE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463040"/>
            <a:ext cx="3657600" cy="548640"/>
          </a:xfrm>
          <a:prstGeom prst="roundRect">
            <a:avLst/>
          </a:prstGeom>
          <a:solidFill>
            <a:srgbClr val="0F3B5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0" y="1508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REGULATORY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463040"/>
            <a:ext cx="1584655" cy="548640"/>
          </a:xfrm>
          <a:prstGeom prst="roundRect">
            <a:avLst/>
          </a:prstGeom>
          <a:solidFill>
            <a:srgbClr val="0F3B5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0" y="1508760"/>
            <a:ext cx="1584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RISK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103120"/>
            <a:ext cx="237744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1488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“Guaranteed 500% profit in 48 hours on pool deposit”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10312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14884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SEBI Guaranteed Return Regulations (investor.sebi.gov.in)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2103120"/>
            <a:ext cx="3657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214884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SEBI regulations strictly prohibit any registered entity from promising fixed or guaranteed returns on securities.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75520" y="2103120"/>
            <a:ext cx="1584655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66960" y="2148840"/>
            <a:ext cx="14017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DC2626"/>
                </a:solidFill>
                <a:latin typeface="Arial"/>
              </a:defRPr>
            </a:pPr>
            <a:r>
              <a:t>HIGH CONCERN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383280"/>
            <a:ext cx="237744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42900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“Join VIP SEBI institutional WhatsApp group for insider calls”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338328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34290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SEBI Fake Trading App Advisory (SEBI / SCORES)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35040" y="3383280"/>
            <a:ext cx="3657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0" y="342900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SEBI never operates social media tipping groups or conducts investment schemes via private messaging channels.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75520" y="3383280"/>
            <a:ext cx="1584655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60" y="3429000"/>
            <a:ext cx="14017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DC2626"/>
                </a:solidFill>
                <a:latin typeface="Arial"/>
              </a:defRPr>
            </a:pPr>
            <a:r>
              <a:t>HIGH CONCERN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663440"/>
            <a:ext cx="2377440" cy="11887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70916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“XYZ Capital Management SEBI Reg: INH000099999”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1840" y="4663440"/>
            <a:ext cx="2560320" cy="11887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3280" y="47091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SEBI Recognised Intermediaries (sebi.gov.in)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35040" y="4663440"/>
            <a:ext cx="3657600" cy="11887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0" y="470916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Registration number format valid, but domain ownership could not be verified automatically. Check sebi.gov.in directly.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75520" y="4663440"/>
            <a:ext cx="1584655" cy="11887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66960" y="4709160"/>
            <a:ext cx="14017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D97706"/>
                </a:solidFill>
                <a:latin typeface="Arial"/>
              </a:defRPr>
            </a:pPr>
            <a:r>
              <a:t>VERIFY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SOURCE / CONTEXT: Verified Evidence Trail Engine (src/components/EvidenceTrail.tsx) | Official SEBI Circulars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64E78"/>
                </a:solidFill>
                <a:latin typeface="Arial"/>
              </a:defRPr>
            </a:pPr>
            <a:r>
              <a:t>CASE STUDIES</a:t>
            </a:r>
          </a:p>
          <a:p>
            <a:pPr>
              <a:spcAft>
                <a:spcPts val="200"/>
              </a:spcAft>
              <a:defRPr sz="2000" b="1">
                <a:solidFill>
                  <a:srgbClr val="1E293B"/>
                </a:solidFill>
                <a:latin typeface="Arial"/>
              </a:defRPr>
            </a:pPr>
            <a:r>
              <a:t>THREE COMMON ATTACK PATHS IN BHARAT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Tested scenarios implemented in the live demo and verified against regulatory circulars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64E78"/>
                </a:solidFill>
                <a:latin typeface="Arial"/>
              </a:defRPr>
            </a:pPr>
            <a:r>
              <a:t>SCENARIO A</a:t>
            </a:r>
          </a:p>
          <a:p>
            <a:pPr>
              <a:spcAft>
                <a:spcPts val="800"/>
              </a:spcAft>
              <a:defRPr sz="1200" b="1">
                <a:solidFill>
                  <a:srgbClr val="0F3B5C"/>
                </a:solidFill>
                <a:latin typeface="Arial"/>
              </a:defRPr>
            </a:pPr>
            <a:r>
              <a:t>Guaranteed Return + VIP Group</a:t>
            </a:r>
          </a:p>
          <a:p>
            <a:pPr>
              <a:spcAft>
                <a:spcPts val="400"/>
              </a:spcAft>
              <a:defRPr sz="850" b="1">
                <a:solidFill>
                  <a:srgbClr val="164E78"/>
                </a:solidFill>
                <a:latin typeface="Arial"/>
              </a:defRPr>
            </a:pPr>
            <a:r>
              <a:t>MESSAGE:</a:t>
            </a:r>
            <a:br/>
            <a:r>
              <a:rPr b="0" sz="850">
                <a:solidFill>
                  <a:srgbClr val="1E293B"/>
                </a:solidFill>
              </a:rPr>
              <a:t>“Invest ₹10,000 in VIP Trading group, get ₹50,000 guaranteed weekly. SEBI registered.”</a:t>
            </a:r>
          </a:p>
          <a:p>
            <a:pPr>
              <a:spcAft>
                <a:spcPts val="400"/>
              </a:spcAft>
              <a:defRPr sz="850" b="1">
                <a:solidFill>
                  <a:srgbClr val="164E78"/>
                </a:solidFill>
                <a:latin typeface="Arial"/>
              </a:defRPr>
            </a:pPr>
            <a:r>
              <a:t>SIGNALS:</a:t>
            </a:r>
            <a:br/>
            <a:r>
              <a:rPr b="0" sz="850">
                <a:solidFill>
                  <a:srgbClr val="1E293B"/>
                </a:solidFill>
              </a:rPr>
              <a:t>Guaranteed Return, Unrealistic 5x Yield, Telegram Tipping Funnel.</a:t>
            </a:r>
          </a:p>
          <a:p>
            <a:pPr>
              <a:spcAft>
                <a:spcPts val="400"/>
              </a:spcAft>
              <a:defRPr sz="850" b="1">
                <a:solidFill>
                  <a:srgbClr val="164E78"/>
                </a:solidFill>
                <a:latin typeface="Arial"/>
              </a:defRPr>
            </a:pPr>
            <a:r>
              <a:t>EVIDENCE:</a:t>
            </a:r>
            <a:br/>
            <a:r>
              <a:rPr b="0" sz="850">
                <a:solidFill>
                  <a:srgbClr val="1E293B"/>
                </a:solidFill>
              </a:rPr>
              <a:t>SEBI Circular on Unregistered Social Media Tipping (EVID-SEBI-GUARANTEED-RETURNS).</a:t>
            </a:r>
          </a:p>
          <a:p>
            <a:pPr>
              <a:spcAft>
                <a:spcPts val="400"/>
              </a:spcAft>
              <a:defRPr sz="850" b="1">
                <a:solidFill>
                  <a:srgbClr val="164E78"/>
                </a:solidFill>
                <a:latin typeface="Arial"/>
              </a:defRPr>
            </a:pPr>
            <a:r>
              <a:t>ACTION:</a:t>
            </a:r>
            <a:br/>
            <a:r>
              <a:rPr b="0" sz="850">
                <a:solidFill>
                  <a:srgbClr val="1E293B"/>
                </a:solidFill>
              </a:rPr>
              <a:t>STOP: Refuse transfer; check SEBI Recognised Intermediaries portal.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64592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64E78"/>
                </a:solidFill>
                <a:latin typeface="Arial"/>
              </a:defRPr>
            </a:pPr>
            <a:r>
              <a:t>SCENARIO B</a:t>
            </a:r>
          </a:p>
          <a:p>
            <a:pPr>
              <a:spcAft>
                <a:spcPts val="800"/>
              </a:spcAft>
              <a:defRPr sz="1200" b="1">
                <a:solidFill>
                  <a:srgbClr val="0F3B5C"/>
                </a:solidFill>
                <a:latin typeface="Arial"/>
              </a:defRPr>
            </a:pPr>
            <a:r>
              <a:t>Fake KYC + Phishing Link</a:t>
            </a:r>
          </a:p>
          <a:p>
            <a:pPr>
              <a:spcAft>
                <a:spcPts val="400"/>
              </a:spcAft>
              <a:defRPr sz="850" b="1">
                <a:solidFill>
                  <a:srgbClr val="164E78"/>
                </a:solidFill>
                <a:latin typeface="Arial"/>
              </a:defRPr>
            </a:pPr>
            <a:r>
              <a:t>MESSAGE:</a:t>
            </a:r>
            <a:br/>
            <a:r>
              <a:rPr b="0" sz="850">
                <a:solidFill>
                  <a:srgbClr val="1E293B"/>
                </a:solidFill>
              </a:rPr>
              <a:t>“Urgent: Your Trading Demat Account will be suspended tonight. Update KYC: https://bit.ly/kyc-update”</a:t>
            </a:r>
          </a:p>
          <a:p>
            <a:pPr>
              <a:spcAft>
                <a:spcPts val="400"/>
              </a:spcAft>
              <a:defRPr sz="850" b="1">
                <a:solidFill>
                  <a:srgbClr val="164E78"/>
                </a:solidFill>
                <a:latin typeface="Arial"/>
              </a:defRPr>
            </a:pPr>
            <a:r>
              <a:t>SIGNALS:</a:t>
            </a:r>
            <a:br/>
            <a:r>
              <a:rPr b="0" sz="850">
                <a:solidFill>
                  <a:srgbClr val="1E293B"/>
                </a:solidFill>
              </a:rPr>
              <a:t>Urgency/Threat, URL Shortener Masking, Fake KYC Demand.</a:t>
            </a:r>
          </a:p>
          <a:p>
            <a:pPr>
              <a:spcAft>
                <a:spcPts val="400"/>
              </a:spcAft>
              <a:defRPr sz="850" b="1">
                <a:solidFill>
                  <a:srgbClr val="164E78"/>
                </a:solidFill>
                <a:latin typeface="Arial"/>
              </a:defRPr>
            </a:pPr>
            <a:r>
              <a:t>EVIDENCE:</a:t>
            </a:r>
            <a:br/>
            <a:r>
              <a:rPr b="0" sz="850">
                <a:solidFill>
                  <a:srgbClr val="1E293B"/>
                </a:solidFill>
              </a:rPr>
              <a:t>RBI Sachet Advisory on Phishing SMS &amp; Sachet Redressal (EVID-RBI-SACHET-UNREGISTERED).</a:t>
            </a:r>
          </a:p>
          <a:p>
            <a:pPr>
              <a:spcAft>
                <a:spcPts val="400"/>
              </a:spcAft>
              <a:defRPr sz="850" b="1">
                <a:solidFill>
                  <a:srgbClr val="164E78"/>
                </a:solidFill>
                <a:latin typeface="Arial"/>
              </a:defRPr>
            </a:pPr>
            <a:r>
              <a:t>ACTION:</a:t>
            </a:r>
            <a:br/>
            <a:r>
              <a:rPr b="0" sz="850">
                <a:solidFill>
                  <a:srgbClr val="1E293B"/>
                </a:solidFill>
              </a:rPr>
              <a:t>PROTECT: Never click short links; log into broker app directly.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64592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64E78"/>
                </a:solidFill>
                <a:latin typeface="Arial"/>
              </a:defRPr>
            </a:pPr>
            <a:r>
              <a:t>SCENARIO C</a:t>
            </a:r>
          </a:p>
          <a:p>
            <a:pPr>
              <a:spcAft>
                <a:spcPts val="800"/>
              </a:spcAft>
              <a:defRPr sz="1200" b="1">
                <a:solidFill>
                  <a:srgbClr val="0F3B5C"/>
                </a:solidFill>
                <a:latin typeface="Arial"/>
              </a:defRPr>
            </a:pPr>
            <a:r>
              <a:t>Remote APK Sideloading</a:t>
            </a:r>
          </a:p>
          <a:p>
            <a:pPr>
              <a:spcAft>
                <a:spcPts val="400"/>
              </a:spcAft>
              <a:defRPr sz="850" b="1">
                <a:solidFill>
                  <a:srgbClr val="164E78"/>
                </a:solidFill>
                <a:latin typeface="Arial"/>
              </a:defRPr>
            </a:pPr>
            <a:r>
              <a:t>MESSAGE:</a:t>
            </a:r>
            <a:br/>
            <a:r>
              <a:rPr b="0" sz="850">
                <a:solidFill>
                  <a:srgbClr val="1E293B"/>
                </a:solidFill>
              </a:rPr>
              <a:t>“Bank support officer: Download our official Fast-KYC-Support.apk to unblock failed UPI transaction.”</a:t>
            </a:r>
          </a:p>
          <a:p>
            <a:pPr>
              <a:spcAft>
                <a:spcPts val="400"/>
              </a:spcAft>
              <a:defRPr sz="850" b="1">
                <a:solidFill>
                  <a:srgbClr val="164E78"/>
                </a:solidFill>
                <a:latin typeface="Arial"/>
              </a:defRPr>
            </a:pPr>
            <a:r>
              <a:t>SIGNALS:</a:t>
            </a:r>
            <a:br/>
            <a:r>
              <a:rPr b="0" sz="850">
                <a:solidFill>
                  <a:srgbClr val="1E293B"/>
                </a:solidFill>
              </a:rPr>
              <a:t>APK Installation, Remote Access Trojan, Authority Impersonation.</a:t>
            </a:r>
          </a:p>
          <a:p>
            <a:pPr>
              <a:spcAft>
                <a:spcPts val="400"/>
              </a:spcAft>
              <a:defRPr sz="850" b="1">
                <a:solidFill>
                  <a:srgbClr val="164E78"/>
                </a:solidFill>
                <a:latin typeface="Arial"/>
              </a:defRPr>
            </a:pPr>
            <a:r>
              <a:t>EVIDENCE:</a:t>
            </a:r>
            <a:br/>
            <a:r>
              <a:rPr b="0" sz="850">
                <a:solidFill>
                  <a:srgbClr val="1E293B"/>
                </a:solidFill>
              </a:rPr>
              <a:t>CERT-In Cyber Advisory on Malicious Android Banking Trojans (EVID-CERTIN-MALICIOUS-APKS).</a:t>
            </a:r>
          </a:p>
          <a:p>
            <a:pPr>
              <a:spcAft>
                <a:spcPts val="400"/>
              </a:spcAft>
              <a:defRPr sz="850" b="1">
                <a:solidFill>
                  <a:srgbClr val="164E78"/>
                </a:solidFill>
                <a:latin typeface="Arial"/>
              </a:defRPr>
            </a:pPr>
            <a:r>
              <a:t>ACTION:</a:t>
            </a:r>
            <a:br/>
            <a:r>
              <a:rPr b="0" sz="850">
                <a:solidFill>
                  <a:srgbClr val="1E293B"/>
                </a:solidFill>
              </a:rPr>
              <a:t>REPORT: Block phone number; call 1930 Cybercrime Helpline.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SOURCE / CONTEXT: Verified Demo Scenarios (src/lib/demo-scenarios.ts) | Tested in Test Suite (tests/e2e-flow.test.ts)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64E78"/>
                </a:solidFill>
                <a:latin typeface="Arial"/>
              </a:defRPr>
            </a:pPr>
            <a:r>
              <a:t>SYSTEM ARCHITECTURE</a:t>
            </a:r>
          </a:p>
          <a:p>
            <a:pPr>
              <a:spcAft>
                <a:spcPts val="200"/>
              </a:spcAft>
              <a:defRPr sz="2000" b="1">
                <a:solidFill>
                  <a:srgbClr val="1E293B"/>
                </a:solidFill>
                <a:latin typeface="Arial"/>
              </a:defRPr>
            </a:pPr>
            <a:r>
              <a:t>HYBRID ANALYSIS — DETERMINISTIC WHERE IT MATTERS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Deterministic heuristics anchor safety; generative LLM provides plain-language bilingual clarity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4864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F3B5C"/>
                </a:solidFill>
                <a:latin typeface="Arial"/>
              </a:defRPr>
            </a:pPr>
            <a:r>
              <a:t>HYBRID DECISION PIPELINE</a:t>
            </a:r>
          </a:p>
          <a:p>
            <a:pPr>
              <a:spcAft>
                <a:spcPts val="400"/>
              </a:spcAft>
              <a:defRPr sz="950" b="1">
                <a:solidFill>
                  <a:srgbClr val="164E78"/>
                </a:solidFill>
                <a:latin typeface="Arial"/>
              </a:defRPr>
            </a:pPr>
            <a:r>
              <a:t>• 1. Input Ingestion &amp; Sanitization: </a:t>
            </a:r>
            <a:r>
              <a:rPr b="0" sz="900">
                <a:solidFill>
                  <a:srgbClr val="1E293B"/>
                </a:solidFill>
              </a:rPr>
              <a:t>Accepts text, screenshots (multipart), or web URLs. PII scrubbed in-memory.</a:t>
            </a:r>
          </a:p>
          <a:p>
            <a:pPr>
              <a:spcAft>
                <a:spcPts val="400"/>
              </a:spcAft>
              <a:defRPr sz="950" b="1">
                <a:solidFill>
                  <a:srgbClr val="164E78"/>
                </a:solidFill>
                <a:latin typeface="Arial"/>
              </a:defRPr>
            </a:pPr>
            <a:r>
              <a:t>• 2. Deterministic Risk Engine: </a:t>
            </a:r>
            <a:r>
              <a:rPr b="0" sz="900">
                <a:solidFill>
                  <a:srgbClr val="1E293B"/>
                </a:solidFill>
              </a:rPr>
              <a:t>20 high-precision regex detectors evaluate claims locally (0ms network delay).</a:t>
            </a:r>
          </a:p>
          <a:p>
            <a:pPr>
              <a:spcAft>
                <a:spcPts val="400"/>
              </a:spcAft>
              <a:defRPr sz="950" b="1">
                <a:solidFill>
                  <a:srgbClr val="164E78"/>
                </a:solidFill>
                <a:latin typeface="Arial"/>
              </a:defRPr>
            </a:pPr>
            <a:r>
              <a:t>• 3. Official Regulatory Evidence DB: </a:t>
            </a:r>
            <a:r>
              <a:rPr b="0" sz="900">
                <a:solidFill>
                  <a:srgbClr val="1E293B"/>
                </a:solidFill>
              </a:rPr>
              <a:t>Matches detected risk signals directly to SEBI, RBI, MCA, and CERT-In advisories.</a:t>
            </a:r>
          </a:p>
          <a:p>
            <a:pPr>
              <a:spcAft>
                <a:spcPts val="400"/>
              </a:spcAft>
              <a:defRPr sz="950" b="1">
                <a:solidFill>
                  <a:srgbClr val="164E78"/>
                </a:solidFill>
                <a:latin typeface="Arial"/>
              </a:defRPr>
            </a:pPr>
            <a:r>
              <a:t>• 4. Optional Gemini 1.5 Flash Reasoning: </a:t>
            </a:r>
            <a:r>
              <a:rPr b="0" sz="900">
                <a:solidFill>
                  <a:srgbClr val="1E293B"/>
                </a:solidFill>
              </a:rPr>
              <a:t>Synthesizes concise plain-language summary in English and simple conversational Hindi.</a:t>
            </a:r>
          </a:p>
          <a:p>
            <a:pPr>
              <a:spcAft>
                <a:spcPts val="400"/>
              </a:spcAft>
              <a:defRPr sz="950" b="1">
                <a:solidFill>
                  <a:srgbClr val="164E78"/>
                </a:solidFill>
                <a:latin typeface="Arial"/>
              </a:defRPr>
            </a:pPr>
            <a:r>
              <a:t>• 5. Output Guardrails &amp; Schema Validation: </a:t>
            </a:r>
            <a:r>
              <a:rPr b="0" sz="900">
                <a:solidFill>
                  <a:srgbClr val="1E293B"/>
                </a:solidFill>
              </a:rPr>
              <a:t>Zod schema validates output integrity; contradictory safety claims are discarded.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463040"/>
            <a:ext cx="49377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F3B5C"/>
                </a:solidFill>
                <a:latin typeface="Arial"/>
              </a:defRPr>
            </a:pPr>
            <a:r>
              <a:t>VERIFIED PRODUCTION TECH STACK</a:t>
            </a:r>
          </a:p>
          <a:p>
            <a:pPr>
              <a:spcAft>
                <a:spcPts val="400"/>
              </a:spcAft>
              <a:defRPr sz="900">
                <a:solidFill>
                  <a:srgbClr val="1E293B"/>
                </a:solidFill>
                <a:latin typeface="Arial"/>
              </a:defRPr>
            </a:pPr>
            <a:r>
              <a:t>• Framework &amp; Runtime:</a:t>
            </a:r>
            <a:br/>
            <a:r>
              <a:t>  Next.js 14 (App Router) + React 18 + Node.js 22</a:t>
            </a:r>
          </a:p>
          <a:p>
            <a:pPr>
              <a:spcAft>
                <a:spcPts val="400"/>
              </a:spcAft>
              <a:defRPr sz="900">
                <a:solidFill>
                  <a:srgbClr val="1E293B"/>
                </a:solidFill>
                <a:latin typeface="Arial"/>
              </a:defRPr>
            </a:pPr>
            <a:r>
              <a:t>• Type Safety &amp; Schemas:</a:t>
            </a:r>
            <a:br/>
            <a:r>
              <a:t>  TypeScript (Strict Mode) + Zod v3 Runtime Validation</a:t>
            </a:r>
          </a:p>
          <a:p>
            <a:pPr>
              <a:spcAft>
                <a:spcPts val="400"/>
              </a:spcAft>
              <a:defRPr sz="900">
                <a:solidFill>
                  <a:srgbClr val="1E293B"/>
                </a:solidFill>
                <a:latin typeface="Arial"/>
              </a:defRPr>
            </a:pPr>
            <a:r>
              <a:t>• Styling &amp; UI Components:</a:t>
            </a:r>
            <a:br/>
            <a:r>
              <a:t>  Tailwind CSS + Lucide Icons + Institutional Palette</a:t>
            </a:r>
          </a:p>
          <a:p>
            <a:pPr>
              <a:spcAft>
                <a:spcPts val="400"/>
              </a:spcAft>
              <a:defRPr sz="900">
                <a:solidFill>
                  <a:srgbClr val="1E293B"/>
                </a:solidFill>
                <a:latin typeface="Arial"/>
              </a:defRPr>
            </a:pPr>
            <a:r>
              <a:t>• Generative AI &amp; LLM:</a:t>
            </a:r>
            <a:br/>
            <a:r>
              <a:t>  Google Gemini 1.5 Flash (via REST API)</a:t>
            </a:r>
          </a:p>
          <a:p>
            <a:pPr>
              <a:spcAft>
                <a:spcPts val="400"/>
              </a:spcAft>
              <a:defRPr sz="900">
                <a:solidFill>
                  <a:srgbClr val="1E293B"/>
                </a:solidFill>
                <a:latin typeface="Arial"/>
              </a:defRPr>
            </a:pPr>
            <a:r>
              <a:t>• Voice &amp; Accessibility:</a:t>
            </a:r>
            <a:br/>
            <a:r>
              <a:t>  Web Speech API (Native Speech Synthesis)</a:t>
            </a:r>
          </a:p>
          <a:p>
            <a:pPr>
              <a:spcAft>
                <a:spcPts val="400"/>
              </a:spcAft>
              <a:defRPr sz="900">
                <a:solidFill>
                  <a:srgbClr val="1E293B"/>
                </a:solidFill>
                <a:latin typeface="Arial"/>
              </a:defRPr>
            </a:pPr>
            <a:r>
              <a:t>• Hosting &amp; Edge Infra:</a:t>
            </a:r>
            <a:br/>
            <a:r>
              <a:t>  Vercel Serverless Platform (Global Edge CDN)</a:t>
            </a:r>
          </a:p>
          <a:p>
            <a:pPr>
              <a:spcAft>
                <a:spcPts val="400"/>
              </a:spcAft>
              <a:defRPr sz="900">
                <a:solidFill>
                  <a:srgbClr val="1E293B"/>
                </a:solidFill>
                <a:latin typeface="Arial"/>
              </a:defRPr>
            </a:pPr>
            <a:r>
              <a:t>• Automated Test Suite:</a:t>
            </a:r>
            <a:br/>
            <a:r>
              <a:t>  Vitest v3.2 (79/79 Unit, Integration &amp; Security Tests)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SOURCE / CONTEXT: Actual Codebase &amp; Dependencies (package.json, tsconfig.json, src/app/api/analyze/route.ts)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64E78"/>
                </a:solidFill>
                <a:latin typeface="Arial"/>
              </a:defRPr>
            </a:pPr>
            <a:r>
              <a:t>INCLUSIVE UX</a:t>
            </a:r>
          </a:p>
          <a:p>
            <a:pPr>
              <a:spcAft>
                <a:spcPts val="200"/>
              </a:spcAft>
              <a:defRPr sz="2000" b="1">
                <a:solidFill>
                  <a:srgbClr val="1E293B"/>
                </a:solidFill>
                <a:latin typeface="Arial"/>
              </a:defRPr>
            </a:pPr>
            <a:r>
              <a:t>DESIGNED FOR BHARAT, NOT JUST FOR EXPERT USERS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Addressing linguistic diversity, digital literacy hurdles, and accessibility across India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64E78"/>
                </a:solidFill>
                <a:latin typeface="Arial"/>
              </a:defRPr>
            </a:pPr>
            <a:r>
              <a:t>Bilingual English &amp; Hindi</a:t>
            </a:r>
          </a:p>
          <a:p>
            <a:pPr>
              <a:defRPr sz="1000">
                <a:solidFill>
                  <a:srgbClr val="1E293B"/>
                </a:solidFill>
                <a:latin typeface="Arial"/>
              </a:defRPr>
            </a:pPr>
            <a:r>
              <a:t>Full localized user experience. Instant language toggle between English and natural Devanagari Hindi (स्कैमशील्ड भारत) across all analysis stages and advice.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64E78"/>
                </a:solidFill>
                <a:latin typeface="Arial"/>
              </a:defRPr>
            </a:pPr>
            <a:r>
              <a:t>Audio Briefing Reader</a:t>
            </a:r>
          </a:p>
          <a:p>
            <a:pPr>
              <a:defRPr sz="1000">
                <a:solidFill>
                  <a:srgbClr val="1E293B"/>
                </a:solidFill>
                <a:latin typeface="Arial"/>
              </a:defRPr>
            </a:pPr>
            <a:r>
              <a:t>Integrated Web Speech API voice synthesis reads safety headlines and next steps aloud in clear Hindi or English for semi-literate or visually-impaired investors.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39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31919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64E78"/>
                </a:solidFill>
                <a:latin typeface="Arial"/>
              </a:defRPr>
            </a:pPr>
            <a:r>
              <a:t>Low Cognitive Load</a:t>
            </a:r>
          </a:p>
          <a:p>
            <a:pPr>
              <a:defRPr sz="1000">
                <a:solidFill>
                  <a:srgbClr val="1E293B"/>
                </a:solidFill>
                <a:latin typeface="Arial"/>
              </a:defRPr>
            </a:pPr>
            <a:r>
              <a:t>Eliminates complex cybersecurity and legal jargon. Uses clear color-coded statuses (High Concern, Needs Verification, Low Concern) with calm next steps.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749039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931919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64E78"/>
                </a:solidFill>
                <a:latin typeface="Arial"/>
              </a:defRPr>
            </a:pPr>
            <a:r>
              <a:t>Direct Action Rail (1930)</a:t>
            </a:r>
          </a:p>
          <a:p>
            <a:pPr>
              <a:defRPr sz="1000">
                <a:solidFill>
                  <a:srgbClr val="1E293B"/>
                </a:solidFill>
                <a:latin typeface="Arial"/>
              </a:defRPr>
            </a:pPr>
            <a:r>
              <a:t>Connects victims directly to the National Cybercrime Helpline 1930 and cybercrime.gov.in for immediate financial freezing in the Golden Hour.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SOURCE / CONTEXT: SANGYAN Usability &amp; Inclusivity Guidelines | Web Speech API &amp; Translations (src/lib/translations.ts)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64E78"/>
                </a:solidFill>
                <a:latin typeface="Arial"/>
              </a:defRPr>
            </a:pPr>
            <a:r>
              <a:t>SECURITY POSTURE</a:t>
            </a:r>
          </a:p>
          <a:p>
            <a:pPr>
              <a:spcAft>
                <a:spcPts val="200"/>
              </a:spcAft>
              <a:defRPr sz="2000" b="1">
                <a:solidFill>
                  <a:srgbClr val="1E293B"/>
                </a:solidFill>
                <a:latin typeface="Arial"/>
              </a:defRPr>
            </a:pPr>
            <a:r>
              <a:t>SAFETY IS PART OF THE PRODUCT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Hardened defense-in-depth validated across 79 automated tests and 54 red-team vectors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4864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F3B5C"/>
                </a:solidFill>
                <a:latin typeface="Arial"/>
              </a:defRPr>
            </a:pPr>
            <a:r>
              <a:t>IMPLEMENTED DEFENSE-IN-DEPTH CONTROLS</a:t>
            </a:r>
          </a:p>
          <a:p>
            <a:pPr>
              <a:spcAft>
                <a:spcPts val="300"/>
              </a:spcAft>
              <a:defRPr sz="950" b="1">
                <a:solidFill>
                  <a:srgbClr val="164E78"/>
                </a:solidFill>
                <a:latin typeface="Arial"/>
              </a:defRPr>
            </a:pPr>
            <a:r>
              <a:t>• In-Memory Processing Only: </a:t>
            </a:r>
            <a:r>
              <a:rPr b="0" sz="900">
                <a:solidFill>
                  <a:srgbClr val="1E293B"/>
                </a:solidFill>
              </a:rPr>
              <a:t>Zero disk writes for uploaded screenshots or text payloads. Ephemeral inspection.</a:t>
            </a:r>
          </a:p>
          <a:p>
            <a:pPr>
              <a:spcAft>
                <a:spcPts val="300"/>
              </a:spcAft>
              <a:defRPr sz="950" b="1">
                <a:solidFill>
                  <a:srgbClr val="164E78"/>
                </a:solidFill>
                <a:latin typeface="Arial"/>
              </a:defRPr>
            </a:pPr>
            <a:r>
              <a:t>• Client-Side &amp; Server PII Scrubbing: </a:t>
            </a:r>
            <a:r>
              <a:rPr b="0" sz="900">
                <a:solidFill>
                  <a:srgbClr val="1E293B"/>
                </a:solidFill>
              </a:rPr>
              <a:t>Aadhaar, PAN, UPI handles, and Indian phone numbers are masked to [REDACTED].</a:t>
            </a:r>
          </a:p>
          <a:p>
            <a:pPr>
              <a:spcAft>
                <a:spcPts val="300"/>
              </a:spcAft>
              <a:defRPr sz="950" b="1">
                <a:solidFill>
                  <a:srgbClr val="164E78"/>
                </a:solidFill>
                <a:latin typeface="Arial"/>
              </a:defRPr>
            </a:pPr>
            <a:r>
              <a:t>• SSRF &amp; Private Network Shield: </a:t>
            </a:r>
            <a:r>
              <a:rPr b="0" sz="900">
                <a:solidFill>
                  <a:srgbClr val="1E293B"/>
                </a:solidFill>
              </a:rPr>
              <a:t>Rejects loopback (127.0.0.1), private RFC 1918 IPs, decimal/hex IPs, and cloud metadata.</a:t>
            </a:r>
          </a:p>
          <a:p>
            <a:pPr>
              <a:spcAft>
                <a:spcPts val="300"/>
              </a:spcAft>
              <a:defRPr sz="950" b="1">
                <a:solidFill>
                  <a:srgbClr val="164E78"/>
                </a:solidFill>
                <a:latin typeface="Arial"/>
              </a:defRPr>
            </a:pPr>
            <a:r>
              <a:t>• File Upload Magic Byte Inspection: </a:t>
            </a:r>
            <a:r>
              <a:rPr b="0" sz="900">
                <a:solidFill>
                  <a:srgbClr val="1E293B"/>
                </a:solidFill>
              </a:rPr>
              <a:t>Validates binary magic headers (PNG/JPG/WebP) and enforces strict 5MB limit.</a:t>
            </a:r>
          </a:p>
          <a:p>
            <a:pPr>
              <a:spcAft>
                <a:spcPts val="300"/>
              </a:spcAft>
              <a:defRPr sz="950" b="1">
                <a:solidFill>
                  <a:srgbClr val="164E78"/>
                </a:solidFill>
                <a:latin typeface="Arial"/>
              </a:defRPr>
            </a:pPr>
            <a:r>
              <a:t>• Strict Schema &amp; Payload Boundaries: </a:t>
            </a:r>
            <a:r>
              <a:rPr b="0" sz="900">
                <a:solidFill>
                  <a:srgbClr val="1E293B"/>
                </a:solidFill>
              </a:rPr>
              <a:t>50KB request payload ceiling with Zod schema validation; drops invalid fields.</a:t>
            </a:r>
          </a:p>
          <a:p>
            <a:pPr>
              <a:spcAft>
                <a:spcPts val="300"/>
              </a:spcAft>
              <a:defRPr sz="950" b="1">
                <a:solidFill>
                  <a:srgbClr val="164E78"/>
                </a:solidFill>
                <a:latin typeface="Arial"/>
              </a:defRPr>
            </a:pPr>
            <a:r>
              <a:t>• Bounded Sliding-Window Rate Limiting: </a:t>
            </a:r>
            <a:r>
              <a:rPr b="0" sz="900">
                <a:solidFill>
                  <a:srgbClr val="1E293B"/>
                </a:solidFill>
              </a:rPr>
              <a:t>Enforces 30 requests/minute/IP with HTTP 429 and Retry-After headers.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463040"/>
            <a:ext cx="49377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F3B5C"/>
                </a:solidFill>
                <a:latin typeface="Arial"/>
              </a:defRPr>
            </a:pPr>
            <a:r>
              <a:t>ENGINEERING SECURITY VALIDATION</a:t>
            </a:r>
          </a:p>
          <a:p>
            <a:pPr>
              <a:spcAft>
                <a:spcPts val="400"/>
              </a:spcAft>
              <a:defRPr sz="950" b="1">
                <a:solidFill>
                  <a:srgbClr val="16A34A"/>
                </a:solidFill>
                <a:latin typeface="Arial"/>
              </a:defRPr>
            </a:pPr>
            <a:r>
              <a:t>✓ Automated Test Suite: </a:t>
            </a:r>
            <a:r>
              <a:rPr b="0" sz="850">
                <a:solidFill>
                  <a:srgbClr val="1E293B"/>
                </a:solidFill>
              </a:rPr>
              <a:t>79 / 79 PASS
  Unit, integration, schema &amp; adversarial tests (npm test)</a:t>
            </a:r>
          </a:p>
          <a:p>
            <a:pPr>
              <a:spcAft>
                <a:spcPts val="400"/>
              </a:spcAft>
              <a:defRPr sz="950" b="1">
                <a:solidFill>
                  <a:srgbClr val="16A34A"/>
                </a:solidFill>
                <a:latin typeface="Arial"/>
              </a:defRPr>
            </a:pPr>
            <a:r>
              <a:t>✓ Localhost Red-Team Suite: </a:t>
            </a:r>
            <a:r>
              <a:rPr b="0" sz="850">
                <a:solidFill>
                  <a:srgbClr val="1E293B"/>
                </a:solidFill>
              </a:rPr>
              <a:t>54 / 54 PASS
  Prompt injection, XSS, SSRF, fuzzing on :3000</a:t>
            </a:r>
          </a:p>
          <a:p>
            <a:pPr>
              <a:spcAft>
                <a:spcPts val="400"/>
              </a:spcAft>
              <a:defRPr sz="950" b="1">
                <a:solidFill>
                  <a:srgbClr val="16A34A"/>
                </a:solidFill>
                <a:latin typeface="Arial"/>
              </a:defRPr>
            </a:pPr>
            <a:r>
              <a:t>✓ Production Red-Team Suite: </a:t>
            </a:r>
            <a:r>
              <a:rPr b="0" sz="850">
                <a:solidFill>
                  <a:srgbClr val="1E293B"/>
                </a:solidFill>
              </a:rPr>
              <a:t>54 / 54 PASS
  Verified against live Vercel deployment endpoint</a:t>
            </a:r>
          </a:p>
          <a:p>
            <a:pPr>
              <a:spcAft>
                <a:spcPts val="400"/>
              </a:spcAft>
              <a:defRPr sz="950" b="1">
                <a:solidFill>
                  <a:srgbClr val="16A34A"/>
                </a:solidFill>
                <a:latin typeface="Arial"/>
              </a:defRPr>
            </a:pPr>
            <a:r>
              <a:t>✓ Secret Leakage Audit: </a:t>
            </a:r>
            <a:r>
              <a:rPr b="0" sz="850">
                <a:solidFill>
                  <a:srgbClr val="1E293B"/>
                </a:solidFill>
              </a:rPr>
              <a:t>0 FOUND
  Regex scan verified zero exposed API keys or tokens in Git</a:t>
            </a:r>
          </a:p>
          <a:p>
            <a:pPr>
              <a:defRPr sz="800" i="1">
                <a:solidFill>
                  <a:srgbClr val="64748B"/>
                </a:solidFill>
                <a:latin typeface="Arial"/>
              </a:defRPr>
            </a:pPr>
            <a:r>
              <a:t>⚠️ Honest Disclosure: Results reflect tested vectors and controls; no software is guaranteed immune to zero-day vulnerabilities.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SOURCE / CONTEXT: Red-Team Audit Report (docs/FINAL-RED-TEAM-REPORT.md) | Security Policy (SECURITY.md)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64E78"/>
                </a:solidFill>
                <a:latin typeface="Arial"/>
              </a:defRPr>
            </a:pPr>
            <a:r>
              <a:t>COMPLIANCE &amp; ETHICS</a:t>
            </a:r>
          </a:p>
          <a:p>
            <a:pPr>
              <a:spcAft>
                <a:spcPts val="200"/>
              </a:spcAft>
              <a:defRPr sz="2000" b="1">
                <a:solidFill>
                  <a:srgbClr val="1E293B"/>
                </a:solidFill>
                <a:latin typeface="Arial"/>
              </a:defRPr>
            </a:pPr>
            <a:r>
              <a:t>A SAFETY TOOL — NOT AN INVESTMENT ADVISOR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Strict adherence to non-advisory boundaries aligned with SEBI regulations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DC2626"/>
                </a:solidFill>
                <a:latin typeface="Arial"/>
              </a:defRPr>
            </a:pPr>
            <a:r>
              <a:t>⛔ STRICTLY PROHIBITED (NON-ADVISORY)</a:t>
            </a:r>
          </a:p>
          <a:p>
            <a:pPr>
              <a:spcAft>
                <a:spcPts val="600"/>
              </a:spcAft>
              <a:defRPr sz="1000" b="1">
                <a:solidFill>
                  <a:srgbClr val="1E293B"/>
                </a:solidFill>
                <a:latin typeface="Arial"/>
              </a:defRPr>
            </a:pPr>
            <a:r>
              <a:t>✕ NO Stock Tips or Stock Recommendations</a:t>
            </a:r>
          </a:p>
          <a:p>
            <a:pPr>
              <a:spcAft>
                <a:spcPts val="600"/>
              </a:spcAft>
              <a:defRPr sz="1000" b="1">
                <a:solidFill>
                  <a:srgbClr val="1E293B"/>
                </a:solidFill>
                <a:latin typeface="Arial"/>
              </a:defRPr>
            </a:pPr>
            <a:r>
              <a:t>✕ NO Buy / Sell / Hold Trading Signals</a:t>
            </a:r>
          </a:p>
          <a:p>
            <a:pPr>
              <a:spcAft>
                <a:spcPts val="600"/>
              </a:spcAft>
              <a:defRPr sz="1000" b="1">
                <a:solidFill>
                  <a:srgbClr val="1E293B"/>
                </a:solidFill>
                <a:latin typeface="Arial"/>
              </a:defRPr>
            </a:pPr>
            <a:r>
              <a:t>✕ NO Price Targets or Market Predictions</a:t>
            </a:r>
          </a:p>
          <a:p>
            <a:pPr>
              <a:spcAft>
                <a:spcPts val="600"/>
              </a:spcAft>
              <a:defRPr sz="1000" b="1">
                <a:solidFill>
                  <a:srgbClr val="1E293B"/>
                </a:solidFill>
                <a:latin typeface="Arial"/>
              </a:defRPr>
            </a:pPr>
            <a:r>
              <a:t>✕ NO Automated Portfolio or Fund Management</a:t>
            </a:r>
          </a:p>
          <a:p>
            <a:pPr>
              <a:spcAft>
                <a:spcPts val="600"/>
              </a:spcAft>
              <a:defRPr sz="1000" b="1">
                <a:solidFill>
                  <a:srgbClr val="1E293B"/>
                </a:solidFill>
                <a:latin typeface="Arial"/>
              </a:defRPr>
            </a:pPr>
            <a:r>
              <a:t>✕ NO Broker or Intermediary Commercial Promotion</a:t>
            </a:r>
          </a:p>
          <a:p>
            <a:pPr>
              <a:spcAft>
                <a:spcPts val="600"/>
              </a:spcAft>
              <a:defRPr sz="1000" b="1">
                <a:solidFill>
                  <a:srgbClr val="1E293B"/>
                </a:solidFill>
                <a:latin typeface="Arial"/>
              </a:defRPr>
            </a:pPr>
            <a:r>
              <a:t>✕ NO Investment Return Guarantees or Endorsements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6A34A"/>
                </a:solidFill>
                <a:latin typeface="Arial"/>
              </a:defRPr>
            </a:pPr>
            <a:r>
              <a:t>✅ PERMITTED &amp; DELIVERED (SAFETY BUFFER)</a:t>
            </a:r>
          </a:p>
          <a:p>
            <a:pPr>
              <a:spcAft>
                <a:spcPts val="600"/>
              </a:spcAft>
              <a:defRPr sz="1000" b="1">
                <a:solidFill>
                  <a:srgbClr val="1E293B"/>
                </a:solidFill>
                <a:latin typeface="Arial"/>
              </a:defRPr>
            </a:pPr>
            <a:r>
              <a:t>✓ YES Objective Risk Signal Identification</a:t>
            </a:r>
          </a:p>
          <a:p>
            <a:pPr>
              <a:spcAft>
                <a:spcPts val="600"/>
              </a:spcAft>
              <a:defRPr sz="1000" b="1">
                <a:solidFill>
                  <a:srgbClr val="1E293B"/>
                </a:solidFill>
                <a:latin typeface="Arial"/>
              </a:defRPr>
            </a:pPr>
            <a:r>
              <a:t>✓ YES Cross-Examination with Official SEBI/RBI Advisories</a:t>
            </a:r>
          </a:p>
          <a:p>
            <a:pPr>
              <a:spcAft>
                <a:spcPts val="600"/>
              </a:spcAft>
              <a:defRPr sz="1000" b="1">
                <a:solidFill>
                  <a:srgbClr val="1E293B"/>
                </a:solidFill>
                <a:latin typeface="Arial"/>
              </a:defRPr>
            </a:pPr>
            <a:r>
              <a:t>✓ YES Explicit Disclosure of Unverified Claims</a:t>
            </a:r>
          </a:p>
          <a:p>
            <a:pPr>
              <a:spcAft>
                <a:spcPts val="600"/>
              </a:spcAft>
              <a:defRPr sz="1000" b="1">
                <a:solidFill>
                  <a:srgbClr val="1E293B"/>
                </a:solidFill>
                <a:latin typeface="Arial"/>
              </a:defRPr>
            </a:pPr>
            <a:r>
              <a:t>✓ YES Educational Plain-Language Explanations</a:t>
            </a:r>
          </a:p>
          <a:p>
            <a:pPr>
              <a:spcAft>
                <a:spcPts val="600"/>
              </a:spcAft>
              <a:defRPr sz="1000" b="1">
                <a:solidFill>
                  <a:srgbClr val="1E293B"/>
                </a:solidFill>
                <a:latin typeface="Arial"/>
              </a:defRPr>
            </a:pPr>
            <a:r>
              <a:t>✓ YES Safe Next Action Guidance (Stop, Protect, Verify)</a:t>
            </a:r>
          </a:p>
          <a:p>
            <a:pPr>
              <a:spcAft>
                <a:spcPts val="600"/>
              </a:spcAft>
              <a:defRPr sz="1000" b="1">
                <a:solidFill>
                  <a:srgbClr val="1E293B"/>
                </a:solidFill>
                <a:latin typeface="Arial"/>
              </a:defRPr>
            </a:pPr>
            <a:r>
              <a:t>✓ YES Direct Links to Official SCORES &amp; 1930 Helplines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SOURCE / CONTEXT: SANGYAN Guardrail Mandate | SEBI (Investment Advisers) Regulations, 2013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64E78"/>
                </a:solidFill>
                <a:latin typeface="Arial"/>
              </a:defRPr>
            </a:pPr>
            <a:r>
              <a:t>FEASIBILITY &amp; ROADMAP</a:t>
            </a:r>
          </a:p>
          <a:p>
            <a:pPr>
              <a:spcAft>
                <a:spcPts val="200"/>
              </a:spcAft>
              <a:defRPr sz="2000" b="1">
                <a:solidFill>
                  <a:srgbClr val="1E293B"/>
                </a:solidFill>
                <a:latin typeface="Arial"/>
              </a:defRPr>
            </a:pPr>
            <a:r>
              <a:t>FROM ONE SUSPICIOUS MESSAGE TO A SCALABLE SAFETY LAYER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Modular architecture built for public deployment and future nationwide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64E78"/>
                </a:solidFill>
                <a:latin typeface="Arial"/>
              </a:defRPr>
            </a:pPr>
            <a:r>
              <a:t>CURRENT VERIFIED CAPABILITIES (LIVE NOW)</a:t>
            </a:r>
          </a:p>
          <a:p>
            <a:pPr>
              <a:spcAft>
                <a:spcPts val="600"/>
              </a:spcAft>
              <a:defRPr sz="1000" b="1">
                <a:solidFill>
                  <a:srgbClr val="0F3B5C"/>
                </a:solidFill>
                <a:latin typeface="Arial"/>
              </a:defRPr>
            </a:pPr>
            <a:r>
              <a:t>✓ Public Web Console: </a:t>
            </a:r>
            <a:r>
              <a:rPr b="0" sz="900">
                <a:solidFill>
                  <a:srgbClr val="1E293B"/>
                </a:solidFill>
              </a:rPr>
              <a:t>Live and deployed on Vercel Edge at zero cost to end users.</a:t>
            </a:r>
          </a:p>
          <a:p>
            <a:pPr>
              <a:spcAft>
                <a:spcPts val="600"/>
              </a:spcAft>
              <a:defRPr sz="1000" b="1">
                <a:solidFill>
                  <a:srgbClr val="0F3B5C"/>
                </a:solidFill>
                <a:latin typeface="Arial"/>
              </a:defRPr>
            </a:pPr>
            <a:r>
              <a:t>✓ Multimodal Ingestion: </a:t>
            </a:r>
            <a:r>
              <a:rPr b="0" sz="900">
                <a:solidFill>
                  <a:srgbClr val="1E293B"/>
                </a:solidFill>
              </a:rPr>
              <a:t>Inspects raw text messages, screenshot images, and URL links.</a:t>
            </a:r>
          </a:p>
          <a:p>
            <a:pPr>
              <a:spcAft>
                <a:spcPts val="600"/>
              </a:spcAft>
              <a:defRPr sz="1000" b="1">
                <a:solidFill>
                  <a:srgbClr val="0F3B5C"/>
                </a:solidFill>
                <a:latin typeface="Arial"/>
              </a:defRPr>
            </a:pPr>
            <a:r>
              <a:t>✓ Bilingual Bharat Support: </a:t>
            </a:r>
            <a:r>
              <a:rPr b="0" sz="900">
                <a:solidFill>
                  <a:srgbClr val="1E293B"/>
                </a:solidFill>
              </a:rPr>
              <a:t>Instant toggle between English and Devanagari Hindi.</a:t>
            </a:r>
          </a:p>
          <a:p>
            <a:pPr>
              <a:spcAft>
                <a:spcPts val="600"/>
              </a:spcAft>
              <a:defRPr sz="1000" b="1">
                <a:solidFill>
                  <a:srgbClr val="0F3B5C"/>
                </a:solidFill>
                <a:latin typeface="Arial"/>
              </a:defRPr>
            </a:pPr>
            <a:r>
              <a:t>✓ Institutional Evidence Matrix: </a:t>
            </a:r>
            <a:r>
              <a:rPr b="0" sz="900">
                <a:solidFill>
                  <a:srgbClr val="1E293B"/>
                </a:solidFill>
              </a:rPr>
              <a:t>Connects claims to SEBI, RBI, MCA &amp; CERT-In records.</a:t>
            </a:r>
          </a:p>
          <a:p>
            <a:pPr>
              <a:spcAft>
                <a:spcPts val="600"/>
              </a:spcAft>
              <a:defRPr sz="1000" b="1">
                <a:solidFill>
                  <a:srgbClr val="0F3B5C"/>
                </a:solidFill>
                <a:latin typeface="Arial"/>
              </a:defRPr>
            </a:pPr>
            <a:r>
              <a:t>✓ Tested Security Controls: </a:t>
            </a:r>
            <a:r>
              <a:rPr b="0" sz="900">
                <a:solidFill>
                  <a:srgbClr val="1E293B"/>
                </a:solidFill>
              </a:rPr>
              <a:t>79 unit tests + 54 red-team vectors validated on production.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369A1"/>
                </a:solidFill>
                <a:latin typeface="Arial"/>
              </a:defRPr>
            </a:pPr>
            <a:r>
              <a:t>POTENTIAL FUTURE ROADMAP (PLANNED)</a:t>
            </a:r>
          </a:p>
          <a:p>
            <a:pPr>
              <a:spcAft>
                <a:spcPts val="600"/>
              </a:spcAft>
              <a:defRPr sz="1000" b="1">
                <a:solidFill>
                  <a:srgbClr val="0F3B5C"/>
                </a:solidFill>
                <a:latin typeface="Arial"/>
              </a:defRPr>
            </a:pPr>
            <a:r>
              <a:t>⚡ Expanded Regional Languages: </a:t>
            </a:r>
            <a:r>
              <a:rPr b="0" sz="900">
                <a:solidFill>
                  <a:srgbClr val="1E293B"/>
                </a:solidFill>
              </a:rPr>
              <a:t>Roadmap: Add Tamil, Telugu, Bengali, Marathi, and Gujarati voice models.</a:t>
            </a:r>
          </a:p>
          <a:p>
            <a:pPr>
              <a:spcAft>
                <a:spcPts val="600"/>
              </a:spcAft>
              <a:defRPr sz="1000" b="1">
                <a:solidFill>
                  <a:srgbClr val="0F3B5C"/>
                </a:solidFill>
                <a:latin typeface="Arial"/>
              </a:defRPr>
            </a:pPr>
            <a:r>
              <a:t>⚡ Direct Registry API Connectors: </a:t>
            </a:r>
            <a:r>
              <a:rPr b="0" sz="900">
                <a:solidFill>
                  <a:srgbClr val="1E293B"/>
                </a:solidFill>
              </a:rPr>
              <a:t>Roadmap: Live automated querying of SEBI intermediary registration database.</a:t>
            </a:r>
          </a:p>
          <a:p>
            <a:pPr>
              <a:spcAft>
                <a:spcPts val="600"/>
              </a:spcAft>
              <a:defRPr sz="1000" b="1">
                <a:solidFill>
                  <a:srgbClr val="0F3B5C"/>
                </a:solidFill>
                <a:latin typeface="Arial"/>
              </a:defRPr>
            </a:pPr>
            <a:r>
              <a:t>⚡ WhatsApp / Telegram Tipline Bot: </a:t>
            </a:r>
            <a:r>
              <a:rPr b="0" sz="900">
                <a:solidFill>
                  <a:srgbClr val="1E293B"/>
                </a:solidFill>
              </a:rPr>
              <a:t>Roadmap: Forward suspicious messages directly to a verified ScamShield bot.</a:t>
            </a:r>
          </a:p>
          <a:p>
            <a:pPr>
              <a:spcAft>
                <a:spcPts val="600"/>
              </a:spcAft>
              <a:defRPr sz="1000" b="1">
                <a:solidFill>
                  <a:srgbClr val="0F3B5C"/>
                </a:solidFill>
                <a:latin typeface="Arial"/>
              </a:defRPr>
            </a:pPr>
            <a:r>
              <a:t>⚡ Centralized Rate Limiting: </a:t>
            </a:r>
            <a:r>
              <a:rPr b="0" sz="900">
                <a:solidFill>
                  <a:srgbClr val="1E293B"/>
                </a:solidFill>
              </a:rPr>
              <a:t>Roadmap: Redis/Upstash cluster backing for massive horizontal scale.</a:t>
            </a:r>
          </a:p>
          <a:p>
            <a:pPr>
              <a:spcAft>
                <a:spcPts val="600"/>
              </a:spcAft>
              <a:defRPr sz="1000" b="1">
                <a:solidFill>
                  <a:srgbClr val="0F3B5C"/>
                </a:solidFill>
                <a:latin typeface="Arial"/>
              </a:defRPr>
            </a:pPr>
            <a:r>
              <a:t>⚡ Offline PWA Support: </a:t>
            </a:r>
            <a:r>
              <a:rPr b="0" sz="900">
                <a:solidFill>
                  <a:srgbClr val="1E293B"/>
                </a:solidFill>
              </a:rPr>
              <a:t>Roadmap: Local browser caching of top 100 scam patterns for 0-network areas.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SOURCE / CONTEXT: SANGYAN Scalability Criteria | Clear Separation of Live Built Prototype vs Planned Roadmap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64E78"/>
                </a:solidFill>
                <a:latin typeface="Arial"/>
              </a:defRPr>
            </a:pPr>
            <a:r>
              <a:t>LIVE DEMONSTRATION</a:t>
            </a:r>
          </a:p>
          <a:p>
            <a:pPr>
              <a:spcAft>
                <a:spcPts val="200"/>
              </a:spcAft>
              <a:defRPr sz="2000" b="1">
                <a:solidFill>
                  <a:srgbClr val="1E293B"/>
                </a:solidFill>
                <a:latin typeface="Arial"/>
              </a:defRPr>
            </a:pPr>
            <a:r>
              <a:t>SEE IT WORK — LIVE PRODUCTION DEPLOYMENT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Publicly accessible verification console ready for immediate judge evaluation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64E78"/>
                </a:solidFill>
                <a:latin typeface="Arial"/>
              </a:defRPr>
            </a:pPr>
            <a:r>
              <a:t>PUBLIC DEMO URL</a:t>
            </a:r>
          </a:p>
          <a:p>
            <a:pPr>
              <a:spcAft>
                <a:spcPts val="800"/>
              </a:spcAft>
              <a:defRPr sz="1150" b="1">
                <a:solidFill>
                  <a:srgbClr val="0F3B5C"/>
                </a:solidFill>
                <a:latin typeface="Arial"/>
              </a:defRPr>
            </a:pPr>
            <a:r>
              <a:t>https://scamshield-bharat-kappa.vercel.app/</a:t>
            </a:r>
          </a:p>
          <a:p>
            <a:pPr>
              <a:spcAft>
                <a:spcPts val="400"/>
              </a:spcAft>
              <a:defRPr sz="1050" b="1">
                <a:solidFill>
                  <a:srgbClr val="1E293B"/>
                </a:solidFill>
                <a:latin typeface="Arial"/>
              </a:defRPr>
            </a:pPr>
            <a:r>
              <a:t>RECOMMENDED JUDGING DEMO SEQUENCE:</a:t>
            </a:r>
          </a:p>
          <a:p>
            <a:pPr>
              <a:spcAft>
                <a:spcPts val="400"/>
              </a:spcAft>
              <a:defRPr sz="900">
                <a:solidFill>
                  <a:srgbClr val="1E293B"/>
                </a:solidFill>
                <a:latin typeface="Arial"/>
              </a:defRPr>
            </a:pPr>
            <a:r>
              <a:t>1. Load Demo Scenario: Guaranteed Return (VIP Telegram Channel).</a:t>
            </a:r>
          </a:p>
          <a:p>
            <a:pPr>
              <a:spcAft>
                <a:spcPts val="400"/>
              </a:spcAft>
              <a:defRPr sz="900">
                <a:solidFill>
                  <a:srgbClr val="1E293B"/>
                </a:solidFill>
                <a:latin typeface="Arial"/>
              </a:defRPr>
            </a:pPr>
            <a:r>
              <a:t>2. Observe Evidence Trail: View cross-examination with official SEBI rules.</a:t>
            </a:r>
          </a:p>
          <a:p>
            <a:pPr>
              <a:spcAft>
                <a:spcPts val="400"/>
              </a:spcAft>
              <a:defRPr sz="900">
                <a:solidFill>
                  <a:srgbClr val="1E293B"/>
                </a:solidFill>
                <a:latin typeface="Arial"/>
              </a:defRPr>
            </a:pPr>
            <a:r>
              <a:t>3. Switch Language: Toggle to Hindi (स्कैमशील्ड भारत) for Devanagari view.</a:t>
            </a:r>
          </a:p>
          <a:p>
            <a:pPr>
              <a:spcAft>
                <a:spcPts val="400"/>
              </a:spcAft>
              <a:defRPr sz="900">
                <a:solidFill>
                  <a:srgbClr val="1E293B"/>
                </a:solidFill>
                <a:latin typeface="Arial"/>
              </a:defRPr>
            </a:pPr>
            <a:r>
              <a:t>4. Test Audio Reader: Click 'Listen Briefing' for speech synthesis.</a:t>
            </a:r>
          </a:p>
          <a:p>
            <a:pPr>
              <a:spcAft>
                <a:spcPts val="400"/>
              </a:spcAft>
              <a:defRPr sz="900">
                <a:solidFill>
                  <a:srgbClr val="1E293B"/>
                </a:solidFill>
                <a:latin typeface="Arial"/>
              </a:defRPr>
            </a:pPr>
            <a:r>
              <a:t>5. Test Custom Input: Paste fresh suspicious text or upload screenshot.</a:t>
            </a:r>
          </a:p>
          <a:p>
            <a:pPr>
              <a:spcAft>
                <a:spcPts val="400"/>
              </a:spcAft>
              <a:defRPr sz="900">
                <a:solidFill>
                  <a:srgbClr val="1E293B"/>
                </a:solidFill>
                <a:latin typeface="Arial"/>
              </a:defRPr>
            </a:pPr>
            <a:r>
              <a:t>6. Review Action Rail: Check 5 safe steps and direct 1930 Helpline link.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F3B5C"/>
                </a:solidFill>
                <a:latin typeface="Arial"/>
              </a:defRPr>
            </a:pPr>
            <a:r>
              <a:t>CORE VERIFICATION HIGHLIGHTS</a:t>
            </a:r>
          </a:p>
          <a:p>
            <a:pPr>
              <a:spcAft>
                <a:spcPts val="400"/>
              </a:spcAft>
              <a:defRPr sz="950" b="1">
                <a:solidFill>
                  <a:srgbClr val="164E78"/>
                </a:solidFill>
                <a:latin typeface="Arial"/>
              </a:defRPr>
            </a:pPr>
            <a:r>
              <a:t>• Institutional Design Style: </a:t>
            </a:r>
            <a:r>
              <a:rPr b="0" sz="900">
                <a:solidFill>
                  <a:srgbClr val="1E293B"/>
                </a:solidFill>
              </a:rPr>
              <a:t>Clean financial safety interface without dark neon or distracting animations.</a:t>
            </a:r>
          </a:p>
          <a:p>
            <a:pPr>
              <a:spcAft>
                <a:spcPts val="400"/>
              </a:spcAft>
              <a:defRPr sz="950" b="1">
                <a:solidFill>
                  <a:srgbClr val="164E78"/>
                </a:solidFill>
                <a:latin typeface="Arial"/>
              </a:defRPr>
            </a:pPr>
            <a:r>
              <a:t>• Deterministic Anchor: </a:t>
            </a:r>
            <a:r>
              <a:rPr b="0" sz="900">
                <a:solidFill>
                  <a:srgbClr val="1E293B"/>
                </a:solidFill>
              </a:rPr>
              <a:t>Safety decisions are never left purely to generative LLM hallucinations.</a:t>
            </a:r>
          </a:p>
          <a:p>
            <a:pPr>
              <a:spcAft>
                <a:spcPts val="400"/>
              </a:spcAft>
              <a:defRPr sz="950" b="1">
                <a:solidFill>
                  <a:srgbClr val="164E78"/>
                </a:solidFill>
                <a:latin typeface="Arial"/>
              </a:defRPr>
            </a:pPr>
            <a:r>
              <a:t>• Honest Blank Image Handling: </a:t>
            </a:r>
            <a:r>
              <a:rPr b="0" sz="900">
                <a:solidFill>
                  <a:srgbClr val="1E293B"/>
                </a:solidFill>
              </a:rPr>
              <a:t>Blank screenshots return honest UNABLE_TO_ASSESS with zero fabricated scam text.</a:t>
            </a:r>
          </a:p>
          <a:p>
            <a:pPr>
              <a:spcAft>
                <a:spcPts val="400"/>
              </a:spcAft>
              <a:defRPr sz="950" b="1">
                <a:solidFill>
                  <a:srgbClr val="164E78"/>
                </a:solidFill>
                <a:latin typeface="Arial"/>
              </a:defRPr>
            </a:pPr>
            <a:r>
              <a:t>• Bilingual Inclusivity: </a:t>
            </a:r>
            <a:r>
              <a:rPr b="0" sz="900">
                <a:solidFill>
                  <a:srgbClr val="1E293B"/>
                </a:solidFill>
              </a:rPr>
              <a:t>Full Devanagari translation crafted for conversational clarity in Bharat.</a:t>
            </a:r>
          </a:p>
          <a:p>
            <a:pPr>
              <a:spcAft>
                <a:spcPts val="400"/>
              </a:spcAft>
              <a:defRPr sz="950" b="1">
                <a:solidFill>
                  <a:srgbClr val="164E78"/>
                </a:solidFill>
                <a:latin typeface="Arial"/>
              </a:defRPr>
            </a:pPr>
            <a:r>
              <a:t>• Zero Secret Leakage: </a:t>
            </a:r>
            <a:r>
              <a:rPr b="0" sz="900">
                <a:solidFill>
                  <a:srgbClr val="1E293B"/>
                </a:solidFill>
              </a:rPr>
              <a:t>All API keys and tokens strictly isolated from client-side code and public Git.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SOURCE / CONTEXT: Live Deployment Verified on Vercel Edge | Tested on Desktop &amp; Mobile Viewports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64E78"/>
                </a:solidFill>
                <a:latin typeface="Arial"/>
              </a:defRPr>
            </a:pPr>
            <a:r>
              <a:t>EVALUATION ALIGNMENT</a:t>
            </a:r>
          </a:p>
          <a:p>
            <a:pPr>
              <a:spcAft>
                <a:spcPts val="200"/>
              </a:spcAft>
              <a:defRPr sz="2000" b="1">
                <a:solidFill>
                  <a:srgbClr val="1E293B"/>
                </a:solidFill>
                <a:latin typeface="Arial"/>
              </a:defRPr>
            </a:pPr>
            <a:r>
              <a:t>BUILT AROUND INVESTOR RESILIENCE</a:t>
            </a:r>
          </a:p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Directly mapped to the core evaluation criteria of SANGYAN IIT (BHU) Hackathon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164E78"/>
                </a:solidFill>
                <a:latin typeface="Arial"/>
              </a:defRPr>
            </a:pPr>
            <a:r>
              <a:t>★ Resilience &amp; Safety Impact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Provides a pre-action verification buffer preventing capital loss at the critical moment before money leaves.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164E78"/>
                </a:solidFill>
                <a:latin typeface="Arial"/>
              </a:defRPr>
            </a:pPr>
            <a:r>
              <a:t>★ Bharat-First Usability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Bilingual Hindi/English, voice briefing, low cognitive load, and mobile responsiveness for Tier-2/3 users.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5212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4612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164E78"/>
                </a:solidFill>
                <a:latin typeface="Arial"/>
              </a:defRPr>
            </a:pPr>
            <a:r>
              <a:t>★ Trust &amp; Guardrails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Strict non-advisory boundary; explicit uncertainty; in-memory PII scrubbing; zero secret leakage.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108960"/>
            <a:ext cx="5212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24612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164E78"/>
                </a:solidFill>
                <a:latin typeface="Arial"/>
              </a:defRPr>
            </a:pPr>
            <a:r>
              <a:t>★ Technical Execution</a:t>
            </a:r>
          </a:p>
          <a:p>
            <a:pPr>
              <a:defRPr sz="950">
                <a:solidFill>
                  <a:srgbClr val="1E293B"/>
                </a:solidFill>
                <a:latin typeface="Arial"/>
              </a:defRPr>
            </a:pPr>
            <a:r>
              <a:t>Hybrid deterministic + AI architecture; 79/79 test suite; 54/54 red-team vectors; live Vercel deployment.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37760"/>
            <a:ext cx="10728655" cy="1188720"/>
          </a:xfrm>
          <a:prstGeom prst="roundRect">
            <a:avLst/>
          </a:prstGeom>
          <a:solidFill>
            <a:srgbClr val="0F3B5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3628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SCAMSHIELD BHARAT — “Check the claim before you act.”</a:t>
            </a:r>
          </a:p>
          <a:p>
            <a:pPr>
              <a:defRPr sz="950">
                <a:solidFill>
                  <a:srgbClr val="CBD5E1"/>
                </a:solidFill>
                <a:latin typeface="Arial"/>
              </a:defRPr>
            </a:pPr>
            <a:r>
              <a:t>Live Demo: https://scamshield-bharat-kappa.vercel.app/ | GitHub: github.com/aryansingh-2008/scamshield-bharat</a:t>
            </a:r>
            <a:br/>
            <a:r>
              <a:t>Built for SANGYAN — Investor Resilience Hackathon (SNTC, IIT BHU × SEBI × NSDL)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Arial"/>
              </a:defRPr>
            </a:pPr>
            <a:r>
              <a:t>SOURCE / CONTEXT: SANGYAN Official Hackathon Evaluation Framework (sangyan.sntciitbhu.co.in)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