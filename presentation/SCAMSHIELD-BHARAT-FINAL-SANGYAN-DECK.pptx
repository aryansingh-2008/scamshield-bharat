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6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5303520" cy="347472"/>
          </a:xfrm>
          <a:prstGeom prst="roundRect">
            <a:avLst/>
          </a:prstGeom>
          <a:solidFill>
            <a:srgbClr val="F0F5FA"/>
          </a:solidFill>
          <a:ln>
            <a:solidFill>
              <a:srgbClr val="C5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64E78"/>
                </a:solidFill>
              </a:defRPr>
            </a:pPr>
            <a:r>
              <a:t>SANGYAN — INVESTOR RESILIENCE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5912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4000" b="1">
                <a:solidFill>
                  <a:srgbClr val="17202A"/>
                </a:solidFill>
              </a:defRPr>
            </a:pPr>
            <a:r>
              <a:t>SCAMSHIELD BHARAT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725912" cy="73152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C5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800" b="1">
                <a:solidFill>
                  <a:srgbClr val="164E78"/>
                </a:solidFill>
              </a:defRPr>
            </a:pPr>
            <a:r>
              <a:t>“Check the claim before you act.”</a:t>
            </a:r>
          </a:p>
          <a:p>
            <a:pPr>
              <a:defRPr sz="1200">
                <a:solidFill>
                  <a:srgbClr val="475467"/>
                </a:solidFill>
              </a:defRPr>
            </a:pPr>
            <a:r>
              <a:t>Evidence-first investor safety console checking suspicious financial messages against trusted regulatory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37560"/>
            <a:ext cx="3328416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/>
          <a:lstStyle/>
          <a:p>
            <a:pPr algn="ctr">
              <a:defRPr sz="1100" b="1">
                <a:solidFill>
                  <a:srgbClr val="164E78"/>
                </a:solidFill>
              </a:defRPr>
            </a:pPr>
            <a:r>
              <a:t>ORGANIZERS &amp; PARTNERS</a:t>
            </a:r>
          </a:p>
          <a:p>
            <a:br/>
            <a:pPr>
              <a:defRPr sz="1150">
                <a:solidFill>
                  <a:srgbClr val="475467"/>
                </a:solidFill>
              </a:defRPr>
            </a:pPr>
            <a:r>
              <a:t>• SNTC, IIT (BHU) Varanasi</a:t>
            </a:r>
            <a:br/>
            <a:r>
              <a:t>• In collaboration with SEBI</a:t>
            </a:r>
            <a:br/>
            <a:r>
              <a:t>• Supported by NSDL</a:t>
            </a:r>
            <a:br/>
            <a:r>
              <a:t>• Theme: Investor Resilience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3337560"/>
            <a:ext cx="3328416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/>
          <a:lstStyle/>
          <a:p>
            <a:pPr algn="ctr">
              <a:defRPr sz="1100" b="1">
                <a:solidFill>
                  <a:srgbClr val="164E78"/>
                </a:solidFill>
              </a:defRPr>
            </a:pPr>
            <a:r>
              <a:t>LIVE DEPLOYMENT &amp; REPO</a:t>
            </a:r>
          </a:p>
          <a:p>
            <a:br/>
            <a:pPr>
              <a:defRPr sz="1150">
                <a:solidFill>
                  <a:srgbClr val="475467"/>
                </a:solidFill>
              </a:defRPr>
            </a:pPr>
            <a:r>
              <a:t>• Production URL:</a:t>
            </a:r>
            <a:br/>
            <a:r>
              <a:t>  scamshield-bharat-kappa.vercel.app</a:t>
            </a:r>
            <a:br/>
            <a:r>
              <a:t>• Public GitHub Repository:</a:t>
            </a:r>
            <a:br/>
            <a:r>
              <a:t>  github.com/aryansingh-2008/</a:t>
            </a:r>
            <a:br/>
            <a:r>
              <a:t>  scamshield-bharat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3337560"/>
            <a:ext cx="3328416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/>
          <a:lstStyle/>
          <a:p>
            <a:pPr algn="ctr">
              <a:defRPr sz="1100" b="1">
                <a:solidFill>
                  <a:srgbClr val="087A5B"/>
                </a:solidFill>
              </a:defRPr>
            </a:pPr>
            <a:r>
              <a:t>ENGINEERING VALIDATION</a:t>
            </a:r>
          </a:p>
          <a:p>
            <a:br/>
            <a:pPr>
              <a:defRPr sz="1150">
                <a:solidFill>
                  <a:srgbClr val="475467"/>
                </a:solidFill>
              </a:defRPr>
            </a:pPr>
            <a:r>
              <a:t>• 79 / 79 Vitest Tests Passing</a:t>
            </a:r>
            <a:br/>
            <a:r>
              <a:t>• 54 / 54 Red-Team Vectors Cleared</a:t>
            </a:r>
            <a:br/>
            <a:r>
              <a:t>• Zero Disk Writes (In-Memory)</a:t>
            </a:r>
            <a:br/>
            <a:r>
              <a:t>• Bilingual Hindi &amp; English Ready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5912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67085"/>
                </a:solidFill>
              </a:defRPr>
            </a:pPr>
            <a:r>
              <a:t>ScamShield Bharat — Evidence-First Investor Safety 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35508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67085"/>
                </a:solidFill>
              </a:defRPr>
            </a:pPr>
            <a:r>
              <a:t>SANGYAN Hackathon (SNTC, IIT (BHU) × SEBI × NSDL)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355080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64E78"/>
                </a:solidFill>
              </a:defRPr>
            </a:pPr>
            <a:r>
              <a:t>Slide 1 of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64E78"/>
          </a:solidFill>
          <a:ln>
            <a:solidFill>
              <a:srgbClr val="16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360" y="320040"/>
            <a:ext cx="8577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7202A"/>
                </a:solidFill>
              </a:defRPr>
            </a:pPr>
            <a:r>
              <a:t>The Moment Before Money Leaves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Financial frauds exploit cognitive urgency and regulatory unawareness before victims can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75504" cy="233172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201168" bIns="201168"/>
          <a:lstStyle/>
          <a:p>
            <a:pPr algn="ctr">
              <a:defRPr sz="1300" b="1">
                <a:solidFill>
                  <a:srgbClr val="B42318"/>
                </a:solidFill>
              </a:defRPr>
            </a:pPr>
            <a:r>
              <a:t>1. Guaranteed Return Tipping Scams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Fraudulent Telegram/WhatsApp VIP channels promise 300% monthly returns.</a:t>
            </a:r>
            <a:br/>
            <a:r>
              <a:t>• Fake screenshots of institutional Demat profits create FOMO.</a:t>
            </a:r>
            <a:br/>
            <a:r>
              <a:t>• Unregistered operators funnel victims into unregulated mule accounts.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280160"/>
            <a:ext cx="5175504" cy="233172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201168" bIns="201168"/>
          <a:lstStyle/>
          <a:p>
            <a:pPr algn="ctr">
              <a:defRPr sz="1300" b="1">
                <a:solidFill>
                  <a:srgbClr val="B42318"/>
                </a:solidFill>
              </a:defRPr>
            </a:pPr>
            <a:r>
              <a:t>2. Regulatory &amp; Authority Impersonation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Forged SEBI certificates, RBI circulars, and police arrest warrants.</a:t>
            </a:r>
            <a:br/>
            <a:r>
              <a:t>• Threat of tax penalties, narcotics charges, and coercive 'Digital Arrest'.</a:t>
            </a:r>
            <a:br/>
            <a:r>
              <a:t>• Victims comply out of panic without accessible institutional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5175504" cy="233172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FED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201168" bIns="201168"/>
          <a:lstStyle/>
          <a:p>
            <a:pPr algn="ctr">
              <a:defRPr sz="1300" b="1">
                <a:solidFill>
                  <a:srgbClr val="B54708"/>
                </a:solidFill>
              </a:defRPr>
            </a:pPr>
            <a:r>
              <a:t>3. Fake KYC Expiry &amp; Account Block Panics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Coercive SMS: 'Demat / Bank Account will be suspended tonight'.</a:t>
            </a:r>
            <a:br/>
            <a:r>
              <a:t>• Clone portal links (bit.ly / .xyz) capture netbanking passwords &amp; OTPs.</a:t>
            </a:r>
            <a:br/>
            <a:r>
              <a:t>• Shortened URLs obscure phishing domain reputations.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3794760"/>
            <a:ext cx="5175504" cy="233172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201168" bIns="201168"/>
          <a:lstStyle/>
          <a:p>
            <a:pPr algn="ctr">
              <a:defRPr sz="1300" b="1">
                <a:solidFill>
                  <a:srgbClr val="B42318"/>
                </a:solidFill>
              </a:defRPr>
            </a:pPr>
            <a:r>
              <a:t>4. Malicious APK &amp; Screen Sharing Traps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Impersonators instruct users to sideload customized APK files.</a:t>
            </a:r>
            <a:br/>
            <a:r>
              <a:t>• Screen-sharing tools (AnyDesk, QuickSupport) capture banking OTPs.</a:t>
            </a:r>
            <a:br/>
            <a:r>
              <a:t>• Immediate unauthorized funds transfer from victims' accounts.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5912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67085"/>
                </a:solidFill>
              </a:defRPr>
            </a:pPr>
            <a:r>
              <a:t>ScamShield Bharat — Evidence-First Investor Safety 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35508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67085"/>
                </a:solidFill>
              </a:defRPr>
            </a:pPr>
            <a:r>
              <a:t>SANGYAN Hackathon (SNTC, IIT (BHU) × SEBI × NSDL)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355080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64E78"/>
                </a:solidFill>
              </a:defRPr>
            </a:pPr>
            <a:r>
              <a:t>Slide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64E78"/>
          </a:solidFill>
          <a:ln>
            <a:solidFill>
              <a:srgbClr val="16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TARGET PERSONAS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360" y="320040"/>
            <a:ext cx="8577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7202A"/>
                </a:solidFill>
              </a:defRPr>
            </a:pPr>
            <a:r>
              <a:t>Who We Build For: Protecting Every Citizen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A first-time retail investor should never need to be a cybersecurity expert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/>
          <a:lstStyle/>
          <a:p>
            <a:pPr algn="ctr">
              <a:defRPr sz="1300" b="1">
                <a:solidFill>
                  <a:srgbClr val="164E78"/>
                </a:solidFill>
              </a:defRPr>
            </a:pPr>
            <a:r>
              <a:t>TIER-2 &amp; TIER-3 INVESTORS</a:t>
            </a:r>
          </a:p>
          <a:p>
            <a:br/>
            <a:pPr>
              <a:defRPr sz="1150">
                <a:solidFill>
                  <a:srgbClr val="475467"/>
                </a:solidFill>
              </a:defRPr>
            </a:pPr>
            <a:r>
              <a:t>• First generation navigating smartphone Demat &amp; trading apps.</a:t>
            </a:r>
            <a:br/>
            <a:r>
              <a:t>• Receives forwarded investment tips on WhatsApp &amp; Telegram.</a:t>
            </a:r>
            <a:br/>
            <a:r>
              <a:t>• Needs simple, plain Hindi &amp; English explanations with zero complex legal jargon.</a:t>
            </a:r>
            <a:br/>
            <a:r>
              <a:t>• High vulnerability to high-return lure scams.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28016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/>
          <a:lstStyle/>
          <a:p>
            <a:pPr algn="ctr">
              <a:defRPr sz="1300" b="1">
                <a:solidFill>
                  <a:srgbClr val="164E78"/>
                </a:solidFill>
              </a:defRPr>
            </a:pPr>
            <a:r>
              <a:t>SENIOR CITIZENS &amp; FAMILIES</a:t>
            </a:r>
          </a:p>
          <a:p>
            <a:br/>
            <a:pPr>
              <a:defRPr sz="1150">
                <a:solidFill>
                  <a:srgbClr val="475467"/>
                </a:solidFill>
              </a:defRPr>
            </a:pPr>
            <a:r>
              <a:t>• Targeted by aggressive digital arrest threats and fake police notices.</a:t>
            </a:r>
            <a:br/>
            <a:r>
              <a:t>• Pressured by claims of bank account freezes or legal seizures.</a:t>
            </a:r>
            <a:br/>
            <a:r>
              <a:t>• Needs high-contrast readability, spoken voice briefings, and 1-click 1930 Cyber Helpline access.</a:t>
            </a:r>
            <a:br/>
            <a:r>
              <a:t>• Needs clear step-by-step reassurance.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28016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/>
          <a:lstStyle/>
          <a:p>
            <a:pPr algn="ctr">
              <a:defRPr sz="1300" b="1">
                <a:solidFill>
                  <a:srgbClr val="164E78"/>
                </a:solidFill>
              </a:defRPr>
            </a:pPr>
            <a:r>
              <a:t>DIGITAL BANKING BEGINNERS</a:t>
            </a:r>
          </a:p>
          <a:p>
            <a:br/>
            <a:pPr>
              <a:defRPr sz="1150">
                <a:solidFill>
                  <a:srgbClr val="475467"/>
                </a:solidFill>
              </a:defRPr>
            </a:pPr>
            <a:r>
              <a:t>• Unfamiliar with official regulatory registries (SEBI SCORES, RBI Sachet).</a:t>
            </a:r>
            <a:br/>
            <a:r>
              <a:t>• Panicked by countdown timers (e.g. 'KYC expires in 15 mins').</a:t>
            </a:r>
            <a:br/>
            <a:r>
              <a:t>• Needs deterministic safety verification and calm containment protocols.</a:t>
            </a:r>
            <a:br/>
            <a:r>
              <a:t>• Needs explicit 'Safe Next Steps' rail.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725912" cy="73152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C5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>
              <a:defRPr sz="1100" b="1">
                <a:solidFill>
                  <a:srgbClr val="164E78"/>
                </a:solidFill>
              </a:defRPr>
            </a:pPr>
            <a:r>
              <a:t>BHARAT-FIRST INCLUSIVITY PILLAR</a:t>
            </a:r>
          </a:p>
          <a:p>
            <a:pPr>
              <a:defRPr sz="1100">
                <a:solidFill>
                  <a:srgbClr val="475467"/>
                </a:solidFill>
              </a:defRPr>
            </a:pPr>
            <a:r>
              <a:t>No login required • In-memory privacy • Bilingual English/Hindi toggle • Spoken audio briefings for non-readers.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5912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67085"/>
                </a:solidFill>
              </a:defRPr>
            </a:pPr>
            <a:r>
              <a:t>ScamShield Bharat — Evidence-First Investor Safety 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35508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67085"/>
                </a:solidFill>
              </a:defRPr>
            </a:pPr>
            <a:r>
              <a:t>SANGYAN Hackathon (SNTC, IIT (BHU) × SEBI × NSDL)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355080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64E78"/>
                </a:solidFill>
              </a:defRPr>
            </a:pPr>
            <a:r>
              <a:t>Slide 3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64E78"/>
          </a:solidFill>
          <a:ln>
            <a:solidFill>
              <a:srgbClr val="16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360" y="320040"/>
            <a:ext cx="8577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7202A"/>
                </a:solidFill>
              </a:defRPr>
            </a:pPr>
            <a:r>
              <a:t>Evidence First, Verdict Second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Transforming ambiguous suspicion into objective regulatory proof before funds are transferred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840480" cy="475488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C5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64E78"/>
                </a:solidFill>
              </a:defRPr>
            </a:pPr>
            <a:r>
              <a:t>THE PRE-ACTION BUFFER</a:t>
            </a:r>
          </a:p>
          <a:p>
            <a:br/>
            <a:pPr>
              <a:defRPr sz="1150">
                <a:solidFill>
                  <a:srgbClr val="475467"/>
                </a:solidFill>
              </a:defRPr>
            </a:pPr>
            <a:r>
              <a:t>ScamShield Bharat is strictly a Safety &amp; Evidence Verification Console.</a:t>
            </a:r>
            <a:br/>
            <a:br/>
            <a:r>
              <a:t>• NOT an Investment Advisor</a:t>
            </a:r>
            <a:br/>
            <a:r>
              <a:t>• NO Stock Tips or Buy/Sell Calls</a:t>
            </a:r>
            <a:br/>
            <a:r>
              <a:t>• NO Black-Box Guesses</a:t>
            </a:r>
            <a:br/>
            <a:br/>
            <a:r>
              <a:t>Instead, it provides an institutional barrier that cross-examines claims directly against official regulatory circulars.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280160"/>
            <a:ext cx="670255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7202A"/>
                </a:solidFill>
              </a:defRPr>
            </a:pPr>
            <a:r>
              <a:t>THE 6-STAGE DETERMINISTIC SAFETY PIPELINE</a:t>
            </a:r>
          </a:p>
          <a:p>
            <a:pPr>
              <a:defRPr sz="1100">
                <a:solidFill>
                  <a:srgbClr val="475467"/>
                </a:solidFill>
              </a:defRPr>
            </a:pPr>
            <a:r>
              <a:t>• STAGE 01: Ingestion &amp; PII Masking: In-memory scanning scrubs PAN, Aadhaar, phone numbers, and UPI IDs.</a:t>
            </a:r>
          </a:p>
          <a:p>
            <a:pPr>
              <a:defRPr sz="1100">
                <a:solidFill>
                  <a:srgbClr val="475467"/>
                </a:solidFill>
              </a:defRPr>
            </a:pPr>
            <a:r>
              <a:t>• STAGE 02: Claim Extraction: Isolates promised returns, urgency deadlines, and entity claims.</a:t>
            </a:r>
          </a:p>
          <a:p>
            <a:pPr>
              <a:defRPr sz="1100">
                <a:solidFill>
                  <a:srgbClr val="475467"/>
                </a:solidFill>
              </a:defRPr>
            </a:pPr>
            <a:r>
              <a:t>• STAGE 03: Deterministic Risk Engine: 20 calibrated heuristic rules in English &amp; Devanagari Hindi.</a:t>
            </a:r>
          </a:p>
          <a:p>
            <a:pPr>
              <a:defRPr sz="1100">
                <a:solidFill>
                  <a:srgbClr val="475467"/>
                </a:solidFill>
              </a:defRPr>
            </a:pPr>
            <a:r>
              <a:t>• STAGE 04: Regulatory Cross-Exam: Grounds claims in SEBI, RBI Sachet, MCA, and CERT-In advisories.</a:t>
            </a:r>
          </a:p>
          <a:p>
            <a:pPr>
              <a:defRPr sz="1100">
                <a:solidFill>
                  <a:srgbClr val="475467"/>
                </a:solidFill>
              </a:defRPr>
            </a:pPr>
            <a:r>
              <a:t>• STAGE 05: Epistemic Uncertainty: Explicitly discloses what could NOT be verified independently.</a:t>
            </a:r>
          </a:p>
          <a:p>
            <a:pPr>
              <a:defRPr sz="1100">
                <a:solidFill>
                  <a:srgbClr val="475467"/>
                </a:solidFill>
              </a:defRPr>
            </a:pPr>
            <a:r>
              <a:t>• STAGE 06: Incident Response Protocol: Calm 5-step containment checklist + 1-click 1930 Cyber Helpline.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5912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67085"/>
                </a:solidFill>
              </a:defRPr>
            </a:pPr>
            <a:r>
              <a:t>ScamShield Bharat — Evidence-First Investor Safety Console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35508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67085"/>
                </a:solidFill>
              </a:defRPr>
            </a:pPr>
            <a:r>
              <a:t>SANGYAN Hackathon (SNTC, IIT (BHU) × SEBI × NSDL)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55080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64E78"/>
                </a:solidFill>
              </a:defRPr>
            </a:pPr>
            <a:r>
              <a:t>Slide 4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64E78"/>
          </a:solidFill>
          <a:ln>
            <a:solidFill>
              <a:srgbClr val="16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360" y="320040"/>
            <a:ext cx="8577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7202A"/>
                </a:solidFill>
              </a:defRPr>
            </a:pPr>
            <a:r>
              <a:t>One Message. One Safety Check.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A seamless 3-second journey from receiving an unverified tip to taking safe defensive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14600" cy="475488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C5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50" b="1">
                <a:solidFill>
                  <a:srgbClr val="164E78"/>
                </a:solidFill>
              </a:defRPr>
            </a:pPr>
            <a:r>
              <a:t>1. INGESTION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User receives suspicious tip on WhatsApp/Telegram/SMS.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Pastes text, uploads screenshot, or submits web link.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No account creation or password needed.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Instant client-side payload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280160"/>
            <a:ext cx="2514600" cy="475488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C5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50" b="1">
                <a:solidFill>
                  <a:srgbClr val="164E78"/>
                </a:solidFill>
              </a:defRPr>
            </a:pPr>
            <a:r>
              <a:t>2. PII MASKING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Client &amp; server regex scrubs sensitive details.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PAN, Aadhaar, UPI IDs, phone numbers masked.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0 disk writes, 0 database retention.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Guaranteed privacy-first analysis.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2514600" cy="475488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50" b="1">
                <a:solidFill>
                  <a:srgbClr val="B42318"/>
                </a:solidFill>
              </a:defRPr>
            </a:pPr>
            <a:r>
              <a:t>3. CROSS-EXAM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Deterministic heuristics match 20 threat patterns.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Correlates claims with official SEBI/RBI circulars.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Generates 5-column signature Evidence Matrix.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Calculates executive risk verdict.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280160"/>
            <a:ext cx="2514600" cy="4754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50" b="1">
                <a:solidFill>
                  <a:srgbClr val="087A5B"/>
                </a:solidFill>
              </a:defRPr>
            </a:pPr>
            <a:r>
              <a:t>4. ACTION RAIL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Bilingual executive safety briefing (EN/HI).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Spoken voice readout via Web Speech API.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5-step containment action protocol.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1-click 1930 Cyber Helpline call.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5912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67085"/>
                </a:solidFill>
              </a:defRPr>
            </a:pPr>
            <a:r>
              <a:t>ScamShield Bharat — Evidence-First Investor Safety 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35508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67085"/>
                </a:solidFill>
              </a:defRPr>
            </a:pPr>
            <a:r>
              <a:t>SANGYAN Hackathon (SNTC, IIT (BHU) × SEBI × NSDL)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355080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64E78"/>
                </a:solidFill>
              </a:defRPr>
            </a:pPr>
            <a:r>
              <a:t>Slide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64E78"/>
          </a:solidFill>
          <a:ln>
            <a:solidFill>
              <a:srgbClr val="16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THREAT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360" y="320040"/>
            <a:ext cx="8577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7202A"/>
                </a:solidFill>
              </a:defRPr>
            </a:pPr>
            <a:r>
              <a:t>Risk Signals That Matter Before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20 deterministic rules calibrated against active financial fraud modus operandi in Bharat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42032" cy="228600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000" b="1">
                <a:solidFill>
                  <a:srgbClr val="B42318"/>
                </a:solidFill>
              </a:defRPr>
            </a:pPr>
            <a:r>
              <a:t>[CRITICAL]</a:t>
            </a:r>
          </a:p>
          <a:p>
            <a:pPr>
              <a:defRPr sz="1150" b="1">
                <a:solidFill>
                  <a:srgbClr val="17202A"/>
                </a:solidFill>
              </a:defRPr>
            </a:pPr>
            <a:r>
              <a:t>GUARANTEED RETURNS</a:t>
            </a:r>
          </a:p>
          <a:p>
            <a:br/>
            <a:pPr>
              <a:defRPr sz="1050">
                <a:solidFill>
                  <a:srgbClr val="475467"/>
                </a:solidFill>
              </a:defRPr>
            </a:pPr>
            <a:r>
              <a:t>Promises of assured 300% monthly profit or zero-risk stock returns prohibited by SEBI.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280160"/>
            <a:ext cx="2542032" cy="2286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FED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000" b="1">
                <a:solidFill>
                  <a:srgbClr val="B54708"/>
                </a:solidFill>
              </a:defRPr>
            </a:pPr>
            <a:r>
              <a:t>[HIGH]</a:t>
            </a:r>
          </a:p>
          <a:p>
            <a:pPr>
              <a:defRPr sz="1150" b="1">
                <a:solidFill>
                  <a:srgbClr val="17202A"/>
                </a:solidFill>
              </a:defRPr>
            </a:pPr>
            <a:r>
              <a:t>ARTIFICIAL URGENCY</a:t>
            </a:r>
          </a:p>
          <a:p>
            <a:br/>
            <a:pPr>
              <a:defRPr sz="1050">
                <a:solidFill>
                  <a:srgbClr val="475467"/>
                </a:solidFill>
              </a:defRPr>
            </a:pPr>
            <a:r>
              <a:t>Coercive countdowns ('expires in 15 mins', '2 slots left') forcing hasty decisions.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280160"/>
            <a:ext cx="2542032" cy="228600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000" b="1">
                <a:solidFill>
                  <a:srgbClr val="B42318"/>
                </a:solidFill>
              </a:defRPr>
            </a:pPr>
            <a:r>
              <a:t>[CRITICAL]</a:t>
            </a:r>
          </a:p>
          <a:p>
            <a:pPr>
              <a:defRPr sz="1150" b="1">
                <a:solidFill>
                  <a:srgbClr val="17202A"/>
                </a:solidFill>
              </a:defRPr>
            </a:pPr>
            <a:r>
              <a:t>REGULATORY IMPERSONATION</a:t>
            </a:r>
          </a:p>
          <a:p>
            <a:br/>
            <a:pPr>
              <a:defRPr sz="1050">
                <a:solidFill>
                  <a:srgbClr val="475467"/>
                </a:solidFill>
              </a:defRPr>
            </a:pPr>
            <a:r>
              <a:t>Forged SEBI, RBI, MCA, or Police credentials, logos, and digital arrest threats.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280160"/>
            <a:ext cx="2542032" cy="228600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000" b="1">
                <a:solidFill>
                  <a:srgbClr val="B42318"/>
                </a:solidFill>
              </a:defRPr>
            </a:pPr>
            <a:r>
              <a:t>[CRITICAL]</a:t>
            </a:r>
          </a:p>
          <a:p>
            <a:pPr>
              <a:defRPr sz="1150" b="1">
                <a:solidFill>
                  <a:srgbClr val="17202A"/>
                </a:solidFill>
              </a:defRPr>
            </a:pPr>
            <a:r>
              <a:t>MULE UPI ACCOUNTS</a:t>
            </a:r>
          </a:p>
          <a:p>
            <a:br/>
            <a:pPr>
              <a:defRPr sz="1050">
                <a:solidFill>
                  <a:srgbClr val="475467"/>
                </a:solidFill>
              </a:defRPr>
            </a:pPr>
            <a:r>
              <a:t>Directing money into personal UPI handles or third-party savings accounts.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03320"/>
            <a:ext cx="2542032" cy="228600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FED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000" b="1">
                <a:solidFill>
                  <a:srgbClr val="B54708"/>
                </a:solidFill>
              </a:defRPr>
            </a:pPr>
            <a:r>
              <a:t>[HIGH]</a:t>
            </a:r>
          </a:p>
          <a:p>
            <a:pPr>
              <a:defRPr sz="1150" b="1">
                <a:solidFill>
                  <a:srgbClr val="17202A"/>
                </a:solidFill>
              </a:defRPr>
            </a:pPr>
            <a:r>
              <a:t>TELEGRAM/WHATSAPP FUNNELS</a:t>
            </a:r>
          </a:p>
          <a:p>
            <a:br/>
            <a:pPr>
              <a:defRPr sz="1050">
                <a:solidFill>
                  <a:srgbClr val="475467"/>
                </a:solidFill>
              </a:defRPr>
            </a:pPr>
            <a:r>
              <a:t>Diverting users into unmonitored private VIP groups for illegal tip-sharing.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3703320"/>
            <a:ext cx="2542032" cy="228600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000" b="1">
                <a:solidFill>
                  <a:srgbClr val="B42318"/>
                </a:solidFill>
              </a:defRPr>
            </a:pPr>
            <a:r>
              <a:t>[CRITICAL]</a:t>
            </a:r>
          </a:p>
          <a:p>
            <a:pPr>
              <a:defRPr sz="1150" b="1">
                <a:solidFill>
                  <a:srgbClr val="17202A"/>
                </a:solidFill>
              </a:defRPr>
            </a:pPr>
            <a:r>
              <a:t>MALICIOUS APK SIDELOADING</a:t>
            </a:r>
          </a:p>
          <a:p>
            <a:br/>
            <a:pPr>
              <a:defRPr sz="1050">
                <a:solidFill>
                  <a:srgbClr val="475467"/>
                </a:solidFill>
              </a:defRPr>
            </a:pPr>
            <a:r>
              <a:t>Urging installation of sideloaded apps or AnyDesk/QuickSupport tools.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3703320"/>
            <a:ext cx="2542032" cy="228600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000" b="1">
                <a:solidFill>
                  <a:srgbClr val="B42318"/>
                </a:solidFill>
              </a:defRPr>
            </a:pPr>
            <a:r>
              <a:t>[CRITICAL]</a:t>
            </a:r>
          </a:p>
          <a:p>
            <a:pPr>
              <a:defRPr sz="1150" b="1">
                <a:solidFill>
                  <a:srgbClr val="17202A"/>
                </a:solidFill>
              </a:defRPr>
            </a:pPr>
            <a:r>
              <a:t>FAKE KYC / ACCOUNT BLOCK</a:t>
            </a:r>
          </a:p>
          <a:p>
            <a:br/>
            <a:pPr>
              <a:defRPr sz="1050">
                <a:solidFill>
                  <a:srgbClr val="475467"/>
                </a:solidFill>
              </a:defRPr>
            </a:pPr>
            <a:r>
              <a:t>Coercive claims that Demat or bank account is frozen to steal credentials.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3703320"/>
            <a:ext cx="2542032" cy="228600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/>
          <a:lstStyle/>
          <a:p>
            <a:pPr algn="ctr">
              <a:defRPr sz="1000" b="1">
                <a:solidFill>
                  <a:srgbClr val="B42318"/>
                </a:solidFill>
              </a:defRPr>
            </a:pPr>
            <a:r>
              <a:t>[CRITICAL]</a:t>
            </a:r>
          </a:p>
          <a:p>
            <a:pPr>
              <a:defRPr sz="1150" b="1">
                <a:solidFill>
                  <a:srgbClr val="17202A"/>
                </a:solidFill>
              </a:defRPr>
            </a:pPr>
            <a:r>
              <a:t>CREDENTIAL / OTP DEMANDS</a:t>
            </a:r>
          </a:p>
          <a:p>
            <a:br/>
            <a:pPr>
              <a:defRPr sz="1050">
                <a:solidFill>
                  <a:srgbClr val="475467"/>
                </a:solidFill>
              </a:defRPr>
            </a:pPr>
            <a:r>
              <a:t>Direct requests for trading PINs, netbanking passwords, or SMS OTPs.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5912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67085"/>
                </a:solidFill>
              </a:defRPr>
            </a:pPr>
            <a:r>
              <a:t>ScamShield Bharat — Evidence-First Investor Safety Console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35508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67085"/>
                </a:solidFill>
              </a:defRPr>
            </a:pPr>
            <a:r>
              <a:t>SANGYAN Hackathon (SNTC, IIT (BHU) × SEBI × NSDL)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6355080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64E78"/>
                </a:solidFill>
              </a:defRPr>
            </a:pPr>
            <a:r>
              <a:t>Slide 6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64E78"/>
          </a:solidFill>
          <a:ln>
            <a:solidFill>
              <a:srgbClr val="16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360" y="320040"/>
            <a:ext cx="8577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7202A"/>
                </a:solidFill>
              </a:defRPr>
            </a:pPr>
            <a:r>
              <a:t>Not “AI Says Scam.” Show The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Replacing black-box probabilistic guesswork with verifiable regulatory citations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754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B42318"/>
                </a:solidFill>
              </a:defRPr>
            </a:pPr>
            <a:r>
              <a:t>STANDARD BLACK-BOX AI CHATBOTS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✗ Hallucinated Confidence Scores: Outputs arbitrary numbers (e.g. '98.4% Scam') without audit trail.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✗ No Regulatory Citations: Gives vague AI opinions without linking to official SEBI/RBI rules.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✗ Binary Guesswork: Forces binary true/false classifications even on incomplete context.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✗ Security Risk: Susceptible to prompt injection and malicious jailbreaks.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✗ Passive Output: Leaves user confused with no structured incident containment.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280160"/>
            <a:ext cx="5212080" cy="475488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C5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64E78"/>
                </a:solidFill>
              </a:defRPr>
            </a:pPr>
            <a:r>
              <a:t>SCAMSHIELD BHARAT EVIDENCE CONSOLE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✓ Signature 5-Column Matrix: Connects every claim to official regulatory source &amp; explanation.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✓ Grounding in Trusted Sources: Direct clickable citations to sebi.gov.in, scores.gov.in, sachet.rbi.org.in.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✓ Epistemic Honesty: Explicitly surfaces 'What Could Not Be Verified' rather than guessing.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✓ Hardened Security: Deterministic risk engine immune to prompt injection jailbreaks.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✓ Active Containment: 5-step defensive protocol with 1-click 1930 Cyber Helpline rail.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5912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67085"/>
                </a:solidFill>
              </a:defRPr>
            </a:pPr>
            <a:r>
              <a:t>ScamShield Bharat — Evidence-First Investor Safety Console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35508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67085"/>
                </a:solidFill>
              </a:defRPr>
            </a:pPr>
            <a:r>
              <a:t>SANGYAN Hackathon (SNTC, IIT (BHU) × SEBI × NSDL)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55080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64E78"/>
                </a:solidFill>
              </a:defRPr>
            </a:pPr>
            <a:r>
              <a:t>Slide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64E78"/>
          </a:solidFill>
          <a:ln>
            <a:solidFill>
              <a:srgbClr val="16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TESTED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360" y="320040"/>
            <a:ext cx="8577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7202A"/>
                </a:solidFill>
              </a:defRPr>
            </a:pPr>
            <a:r>
              <a:t>Three Real-World Attack Paths in Bharat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Deterministic detection matching active hackathon evaluation cases in under 3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28416" cy="475488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B42318"/>
                </a:solidFill>
              </a:defRPr>
            </a:pPr>
            <a:r>
              <a:t>SCENARIO A: GUARANTEED RETURN</a:t>
            </a:r>
          </a:p>
          <a:p>
            <a:br/>
            <a:pPr>
              <a:defRPr sz="1050" b="1">
                <a:solidFill>
                  <a:srgbClr val="17202A"/>
                </a:solidFill>
              </a:defRPr>
            </a:pPr>
            <a:r>
              <a:t>Suspicious Message:</a:t>
            </a:r>
          </a:p>
          <a:p>
            <a:pPr>
              <a:defRPr sz="1000">
                <a:solidFill>
                  <a:srgbClr val="475467"/>
                </a:solidFill>
              </a:defRPr>
            </a:pPr>
            <a:r>
              <a:t>“Invest ₹10,000 in VIP Trading group, get ₹50,000 guaranteed weekly. Only 20 seats left!”</a:t>
            </a:r>
          </a:p>
          <a:p>
            <a:br/>
            <a:pPr>
              <a:defRPr sz="1050" b="1">
                <a:solidFill>
                  <a:srgbClr val="17202A"/>
                </a:solidFill>
              </a:defRPr>
            </a:pPr>
            <a:r>
              <a:t>Matched Threat Signals:</a:t>
            </a:r>
          </a:p>
          <a:p>
            <a:pPr>
              <a:defRPr sz="1000">
                <a:solidFill>
                  <a:srgbClr val="475467"/>
                </a:solidFill>
              </a:defRPr>
            </a:pPr>
            <a:r>
              <a:t>• Guaranteed Return Promise</a:t>
            </a:r>
            <a:br/>
            <a:r>
              <a:t>• Artificial Urgency Countdown</a:t>
            </a:r>
            <a:br/>
            <a:r>
              <a:t>• Unregistered Telegram Funnel</a:t>
            </a:r>
          </a:p>
          <a:p>
            <a:br/>
            <a:pPr>
              <a:defRPr sz="1050" b="1">
                <a:solidFill>
                  <a:srgbClr val="17202A"/>
                </a:solidFill>
              </a:defRPr>
            </a:pPr>
            <a:r>
              <a:t>Official Regulatory Evidence:</a:t>
            </a:r>
          </a:p>
          <a:p>
            <a:pPr>
              <a:defRPr sz="1000">
                <a:solidFill>
                  <a:srgbClr val="475467"/>
                </a:solidFill>
              </a:defRPr>
            </a:pPr>
            <a:r>
              <a:t>SEBI Advisory on Guaranteed Return Schemes (EVID-SEBI-GUARANTEED-RETURNS)</a:t>
            </a:r>
          </a:p>
          <a:p>
            <a:br/>
            <a:pPr>
              <a:defRPr sz="1050" b="1">
                <a:solidFill>
                  <a:srgbClr val="17202A"/>
                </a:solidFill>
              </a:defRPr>
            </a:pPr>
            <a:r>
              <a:t>Verdict:</a:t>
            </a:r>
          </a:p>
          <a:p>
            <a:pPr>
              <a:defRPr sz="1000">
                <a:solidFill>
                  <a:srgbClr val="475467"/>
                </a:solidFill>
              </a:defRPr>
            </a:pPr>
            <a:r>
              <a:t>HIGH CONCERN (Prohibited Scheme)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280160"/>
            <a:ext cx="3328416" cy="4754880"/>
          </a:xfrm>
          <a:prstGeom prst="roundRect">
            <a:avLst/>
          </a:prstGeom>
          <a:solidFill>
            <a:srgbClr val="FFFAEB"/>
          </a:solidFill>
          <a:ln w="12700">
            <a:solidFill>
              <a:srgbClr val="FEDF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B54708"/>
                </a:solidFill>
              </a:defRPr>
            </a:pPr>
            <a:r>
              <a:t>SCENARIO B: FAKE KYC EXPIRY</a:t>
            </a:r>
          </a:p>
          <a:p>
            <a:br/>
            <a:pPr>
              <a:defRPr sz="1050" b="1">
                <a:solidFill>
                  <a:srgbClr val="17202A"/>
                </a:solidFill>
              </a:defRPr>
            </a:pPr>
            <a:r>
              <a:t>Suspicious Message:</a:t>
            </a:r>
          </a:p>
          <a:p>
            <a:pPr>
              <a:defRPr sz="1000">
                <a:solidFill>
                  <a:srgbClr val="475467"/>
                </a:solidFill>
              </a:defRPr>
            </a:pPr>
            <a:r>
              <a:t>“Urgent: Your Trading Demat Account will be blocked tonight. Update KYC: bit.ly/kyc-verify”</a:t>
            </a:r>
          </a:p>
          <a:p>
            <a:br/>
            <a:pPr>
              <a:defRPr sz="1050" b="1">
                <a:solidFill>
                  <a:srgbClr val="17202A"/>
                </a:solidFill>
              </a:defRPr>
            </a:pPr>
            <a:r>
              <a:t>Matched Threat Signals:</a:t>
            </a:r>
          </a:p>
          <a:p>
            <a:pPr>
              <a:defRPr sz="1000">
                <a:solidFill>
                  <a:srgbClr val="475467"/>
                </a:solidFill>
              </a:defRPr>
            </a:pPr>
            <a:r>
              <a:t>• Account Suspension Threat</a:t>
            </a:r>
            <a:br/>
            <a:r>
              <a:t>• Shortened Phishing URL</a:t>
            </a:r>
            <a:br/>
            <a:r>
              <a:t>• Fake KYC Portal Clone</a:t>
            </a:r>
          </a:p>
          <a:p>
            <a:br/>
            <a:pPr>
              <a:defRPr sz="1050" b="1">
                <a:solidFill>
                  <a:srgbClr val="17202A"/>
                </a:solidFill>
              </a:defRPr>
            </a:pPr>
            <a:r>
              <a:t>Official Regulatory Evidence:</a:t>
            </a:r>
          </a:p>
          <a:p>
            <a:pPr>
              <a:defRPr sz="1000">
                <a:solidFill>
                  <a:srgbClr val="475467"/>
                </a:solidFill>
              </a:defRPr>
            </a:pPr>
            <a:r>
              <a:t>RBI Sachet Advisory on Phishing SMS &amp; Clone Portals (EVID-RBI-SACHET-UNREGISTERED)</a:t>
            </a:r>
          </a:p>
          <a:p>
            <a:br/>
            <a:pPr>
              <a:defRPr sz="1050" b="1">
                <a:solidFill>
                  <a:srgbClr val="17202A"/>
                </a:solidFill>
              </a:defRPr>
            </a:pPr>
            <a:r>
              <a:t>Verdict:</a:t>
            </a:r>
          </a:p>
          <a:p>
            <a:pPr>
              <a:defRPr sz="1000">
                <a:solidFill>
                  <a:srgbClr val="475467"/>
                </a:solidFill>
              </a:defRPr>
            </a:pPr>
            <a:r>
              <a:t>HIGH CONCERN (Phishing Attack)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280160"/>
            <a:ext cx="3328416" cy="475488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B42318"/>
                </a:solidFill>
              </a:defRPr>
            </a:pPr>
            <a:r>
              <a:t>SCENARIO C: REMOTE APK SIDELOAD</a:t>
            </a:r>
          </a:p>
          <a:p>
            <a:br/>
            <a:pPr>
              <a:defRPr sz="1050" b="1">
                <a:solidFill>
                  <a:srgbClr val="17202A"/>
                </a:solidFill>
              </a:defRPr>
            </a:pPr>
            <a:r>
              <a:t>Suspicious Message:</a:t>
            </a:r>
          </a:p>
          <a:p>
            <a:pPr>
              <a:defRPr sz="1000">
                <a:solidFill>
                  <a:srgbClr val="475467"/>
                </a:solidFill>
              </a:defRPr>
            </a:pPr>
            <a:r>
              <a:t>“Bank support officer: Download Fast-KYC-Support.apk to unblock failed UPI transaction.”</a:t>
            </a:r>
          </a:p>
          <a:p>
            <a:br/>
            <a:pPr>
              <a:defRPr sz="1050" b="1">
                <a:solidFill>
                  <a:srgbClr val="17202A"/>
                </a:solidFill>
              </a:defRPr>
            </a:pPr>
            <a:r>
              <a:t>Matched Threat Signals:</a:t>
            </a:r>
          </a:p>
          <a:p>
            <a:pPr>
              <a:defRPr sz="1000">
                <a:solidFill>
                  <a:srgbClr val="475467"/>
                </a:solidFill>
              </a:defRPr>
            </a:pPr>
            <a:r>
              <a:t>• Banking Authority Impersonation</a:t>
            </a:r>
            <a:br/>
            <a:r>
              <a:t>• Sideloaded Android APK</a:t>
            </a:r>
            <a:br/>
            <a:r>
              <a:t>• Remote Access Trojan Threat</a:t>
            </a:r>
          </a:p>
          <a:p>
            <a:br/>
            <a:pPr>
              <a:defRPr sz="1050" b="1">
                <a:solidFill>
                  <a:srgbClr val="17202A"/>
                </a:solidFill>
              </a:defRPr>
            </a:pPr>
            <a:r>
              <a:t>Official Regulatory Evidence:</a:t>
            </a:r>
          </a:p>
          <a:p>
            <a:pPr>
              <a:defRPr sz="1000">
                <a:solidFill>
                  <a:srgbClr val="475467"/>
                </a:solidFill>
              </a:defRPr>
            </a:pPr>
            <a:r>
              <a:t>CERT-In Advisory on Malicious Banking APKs &amp; Screen Sharing (EVID-CERTIN-MALICIOUS-APKS)</a:t>
            </a:r>
          </a:p>
          <a:p>
            <a:br/>
            <a:pPr>
              <a:defRPr sz="1050" b="1">
                <a:solidFill>
                  <a:srgbClr val="17202A"/>
                </a:solidFill>
              </a:defRPr>
            </a:pPr>
            <a:r>
              <a:t>Verdict:</a:t>
            </a:r>
          </a:p>
          <a:p>
            <a:pPr>
              <a:defRPr sz="1000">
                <a:solidFill>
                  <a:srgbClr val="475467"/>
                </a:solidFill>
              </a:defRPr>
            </a:pPr>
            <a:r>
              <a:t>HIGH CONCERN (Device Takeover)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5912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67085"/>
                </a:solidFill>
              </a:defRPr>
            </a:pPr>
            <a:r>
              <a:t>ScamShield Bharat — Evidence-First Investor Safety Console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35508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67085"/>
                </a:solidFill>
              </a:defRPr>
            </a:pPr>
            <a:r>
              <a:t>SANGYAN Hackathon (SNTC, IIT (BHU) × SEBI × NSDL)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355080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64E78"/>
                </a:solidFill>
              </a:defRPr>
            </a:pPr>
            <a:r>
              <a:t>Slide 8 of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64E78"/>
          </a:solidFill>
          <a:ln>
            <a:solidFill>
              <a:srgbClr val="16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360" y="320040"/>
            <a:ext cx="8577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7202A"/>
                </a:solidFill>
              </a:defRPr>
            </a:pPr>
            <a:r>
              <a:t>Hybrid Architecture: Deterministic Where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Robust engineering combining deterministic heuristics with generative AI explanations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164E78"/>
                </a:solidFill>
              </a:defRPr>
            </a:pPr>
            <a:r>
              <a:t>FRONTEND &amp; EDGE RUNTIME</a:t>
            </a:r>
          </a:p>
          <a:p>
            <a:br/>
            <a:pPr>
              <a:defRPr sz="1150">
                <a:solidFill>
                  <a:srgbClr val="475467"/>
                </a:solidFill>
              </a:defRPr>
            </a:pPr>
            <a:r>
              <a:t>• Next.js 14 (App Router)</a:t>
            </a:r>
            <a:br/>
            <a:r>
              <a:t>• React 18 with Strict Mode</a:t>
            </a:r>
            <a:br/>
            <a:r>
              <a:t>• Tailwind CSS Design System</a:t>
            </a:r>
            <a:br/>
            <a:r>
              <a:t>• Vercel Serverless Edge Platform</a:t>
            </a:r>
            <a:br/>
            <a:r>
              <a:t>• Responsive Desktop &amp; Mobile</a:t>
            </a:r>
            <a:br/>
            <a:r>
              <a:t>• Native Web Speech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28016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164E78"/>
                </a:solidFill>
              </a:defRPr>
            </a:pPr>
            <a:r>
              <a:t>DETERMINISTIC RISK ENGINE</a:t>
            </a:r>
          </a:p>
          <a:p>
            <a:br/>
            <a:pPr>
              <a:defRPr sz="1150">
                <a:solidFill>
                  <a:srgbClr val="475467"/>
                </a:solidFill>
              </a:defRPr>
            </a:pPr>
            <a:r>
              <a:t>• TypeScript Strict Type Safety</a:t>
            </a:r>
            <a:br/>
            <a:r>
              <a:t>• Zod v3 Runtime Validation</a:t>
            </a:r>
            <a:br/>
            <a:r>
              <a:t>• In-Memory Regex Pattern Matcher</a:t>
            </a:r>
            <a:br/>
            <a:r>
              <a:t>• Bilingual English &amp; Hindi Stems</a:t>
            </a:r>
            <a:br/>
            <a:r>
              <a:t>• In-Memory Evidence Registry</a:t>
            </a:r>
            <a:br/>
            <a:r>
              <a:t>• 0 Disk Storage Requirement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28016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164E78"/>
                </a:solidFill>
              </a:defRPr>
            </a:pPr>
            <a:r>
              <a:t>AI &amp; VOICE SYNTHESIS</a:t>
            </a:r>
          </a:p>
          <a:p>
            <a:br/>
            <a:pPr>
              <a:defRPr sz="1150">
                <a:solidFill>
                  <a:srgbClr val="475467"/>
                </a:solidFill>
              </a:defRPr>
            </a:pPr>
            <a:r>
              <a:t>• Google Gemini 1.5 Flash</a:t>
            </a:r>
            <a:br/>
            <a:r>
              <a:t>• Plain-Language Summary Generator</a:t>
            </a:r>
            <a:br/>
            <a:r>
              <a:t>• Zero Hallucination Guardrails</a:t>
            </a:r>
            <a:br/>
            <a:r>
              <a:t>• Client &amp; Server PII Redaction</a:t>
            </a:r>
            <a:br/>
            <a:r>
              <a:t>• Bilingual Voice Synthesis</a:t>
            </a:r>
            <a:br/>
            <a:r>
              <a:t>• Sub-3s Analysis Response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94960"/>
            <a:ext cx="10725912" cy="73152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C5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/>
          <a:lstStyle/>
          <a:p>
            <a:pPr algn="ctr">
              <a:defRPr sz="1100" b="1">
                <a:solidFill>
                  <a:srgbClr val="164E78"/>
                </a:solidFill>
              </a:defRPr>
            </a:pPr>
            <a:r>
              <a:t>ENGINEERING BENCHMARKS</a:t>
            </a:r>
          </a:p>
          <a:p>
            <a:pPr>
              <a:defRPr sz="1100">
                <a:solidFill>
                  <a:srgbClr val="475467"/>
                </a:solidFill>
              </a:defRPr>
            </a:pPr>
            <a:r>
              <a:t>79/79 Vitest Tests Passing • 54/54 Red-Team Attack Vectors Cleared • 0 Security Vulnerabilities in Git Audit.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5912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67085"/>
                </a:solidFill>
              </a:defRPr>
            </a:pPr>
            <a:r>
              <a:t>ScamShield Bharat — Evidence-First Investor Safety 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35508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67085"/>
                </a:solidFill>
              </a:defRPr>
            </a:pPr>
            <a:r>
              <a:t>SANGYAN Hackathon (SNTC, IIT (BHU) × SEBI × NSDL)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355080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64E78"/>
                </a:solidFill>
              </a:defRPr>
            </a:pPr>
            <a:r>
              <a:t>Slide 9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64E78"/>
          </a:solidFill>
          <a:ln>
            <a:solidFill>
              <a:srgbClr val="16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INCLUSIVITY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360" y="320040"/>
            <a:ext cx="8577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7202A"/>
                </a:solidFill>
              </a:defRPr>
            </a:pPr>
            <a:r>
              <a:t>Designed for Bharat, Not Just Expert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Breaking language, literacy, and technical barriers for inclusive financial 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75504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201168"/>
          <a:lstStyle/>
          <a:p>
            <a:pPr algn="ctr">
              <a:defRPr sz="1300" b="1">
                <a:solidFill>
                  <a:srgbClr val="164E78"/>
                </a:solidFill>
              </a:defRPr>
            </a:pPr>
            <a:r>
              <a:t>1. Full Bilingual English &amp; Hindi (स्कैमशील्ड भारत)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Instant 1-click language switch across all screens and evidence stages.</a:t>
            </a:r>
            <a:br/>
            <a:r>
              <a:t>• Natural Devanagari Hindi translations for all technical findings.</a:t>
            </a:r>
            <a:br/>
            <a:r>
              <a:t>• Eliminates alienating English-only financial jargon.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280160"/>
            <a:ext cx="5175504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201168"/>
          <a:lstStyle/>
          <a:p>
            <a:pPr algn="ctr">
              <a:defRPr sz="1300" b="1">
                <a:solidFill>
                  <a:srgbClr val="164E78"/>
                </a:solidFill>
              </a:defRPr>
            </a:pPr>
            <a:r>
              <a:t>2. Audio Briefing Voice Reader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Integrated Web Speech API reads risk summaries and safe actions aloud.</a:t>
            </a:r>
            <a:br/>
            <a:r>
              <a:t>• Empowers non-literate and visually impaired investors.</a:t>
            </a:r>
            <a:br/>
            <a:r>
              <a:t>• Clear spoken Hindi and English narration.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94760"/>
            <a:ext cx="5175504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201168"/>
          <a:lstStyle/>
          <a:p>
            <a:pPr algn="ctr">
              <a:defRPr sz="1300" b="1">
                <a:solidFill>
                  <a:srgbClr val="164E78"/>
                </a:solidFill>
              </a:defRPr>
            </a:pPr>
            <a:r>
              <a:t>3. Low Cognitive Load Design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High-contrast institutional color coding (High Concern, Caution, Verified).</a:t>
            </a:r>
            <a:br/>
            <a:r>
              <a:t>• Clear 4-metric statistics and scannable Stage Headings.</a:t>
            </a:r>
            <a:br/>
            <a:r>
              <a:t>• Replaces anxiety with structured, actionable clarity.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3794760"/>
            <a:ext cx="5175504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201168"/>
          <a:lstStyle/>
          <a:p>
            <a:pPr algn="ctr">
              <a:defRPr sz="1300" b="1">
                <a:solidFill>
                  <a:srgbClr val="087A5B"/>
                </a:solidFill>
              </a:defRPr>
            </a:pPr>
            <a:r>
              <a:t>4. Direct 1930 Cyber Helpline Action Rail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1-click direct dial to National Cyber Crime Helpline 1930.</a:t>
            </a:r>
            <a:br/>
            <a:r>
              <a:t>• Clickable access to official cybercrime.gov.in &amp; SEBI SCORES portals.</a:t>
            </a:r>
            <a:br/>
            <a:r>
              <a:t>• 5-step containment checklist: Stop, Protect, Verify, Report, Recover.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5912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67085"/>
                </a:solidFill>
              </a:defRPr>
            </a:pPr>
            <a:r>
              <a:t>ScamShield Bharat — Evidence-First Investor Safety Console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35508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67085"/>
                </a:solidFill>
              </a:defRPr>
            </a:pPr>
            <a:r>
              <a:t>SANGYAN Hackathon (SNTC, IIT (BHU) × SEBI × NSDL)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6355080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64E78"/>
                </a:solidFill>
              </a:defRPr>
            </a:pPr>
            <a:r>
              <a:t>Slide 10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64E78"/>
          </a:solidFill>
          <a:ln>
            <a:solidFill>
              <a:srgbClr val="16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SECURITY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360" y="320040"/>
            <a:ext cx="8577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7202A"/>
                </a:solidFill>
              </a:defRPr>
            </a:pPr>
            <a:r>
              <a:t>Security Is Built Into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Comprehensive verification against prompt injection, SSRF, XSS, and data leakage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64E78"/>
                </a:solidFill>
              </a:defRPr>
            </a:pPr>
            <a:r>
              <a:t>ARCHITECTURAL SECURITY CONTROLS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Zero Data Retention:</a:t>
            </a:r>
            <a:br/>
            <a:r>
              <a:t>  In-memory processing only; raw user messages discarded immediately.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Automated PII Scrubbing:</a:t>
            </a:r>
            <a:br/>
            <a:r>
              <a:t>  Regex filters mask Aadhaar, PAN, phone numbers, and UPI IDs.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Anti-SSRF URL Engine:</a:t>
            </a:r>
            <a:br/>
            <a:r>
              <a:t>  Blocks loopback (127.0.0.1), private RFC 1918, octal/hex, &amp; AWS/GCP metadata IP blocks.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Upload Hardening:</a:t>
            </a:r>
            <a:br/>
            <a:r>
              <a:t>  5MB file ceiling with magic-byte file signature validation (JPG/PNG/WebP).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DoS &amp; Rate Limiting:</a:t>
            </a:r>
            <a:br/>
            <a:r>
              <a:t>  50KB payload limit + sliding-window rate limit (30 req/min/IP).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280160"/>
            <a:ext cx="5212080" cy="475488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C5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087A5B"/>
                </a:solidFill>
              </a:defRPr>
            </a:pPr>
            <a:r>
              <a:t>RED-TEAM SECURITY AUDIT SCORECARD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✓ Automated Test Suite:</a:t>
            </a:r>
            <a:br/>
            <a:r>
              <a:t>  79 / 79 PASS (`vitest run`) across 7 test suites.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✓ Localhost Red-Team Suite:</a:t>
            </a:r>
            <a:br/>
            <a:r>
              <a:t>  54 / 54 PASS (`http://localhost:3000`) across 13 threat categories.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✓ Production Red-Team Suite:</a:t>
            </a:r>
            <a:br/>
            <a:r>
              <a:t>  54 / 54 PASS (`scamshield-bharat-kappa.vercel.app`).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✓ Prompt Injection Defense:</a:t>
            </a:r>
            <a:br/>
            <a:r>
              <a:t>  100% Protected (English &amp; Devanagari system prompt extraction attempts neutralized).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✓ Secret Leakage Audit:</a:t>
            </a:r>
            <a:br/>
            <a:r>
              <a:t>  0 Secrets Found (Clean Git tree &amp; environment variable isolation).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5912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67085"/>
                </a:solidFill>
              </a:defRPr>
            </a:pPr>
            <a:r>
              <a:t>ScamShield Bharat — Evidence-First Investor Safety Console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35508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67085"/>
                </a:solidFill>
              </a:defRPr>
            </a:pPr>
            <a:r>
              <a:t>SANGYAN Hackathon (SNTC, IIT (BHU) × SEBI × NSDL)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55080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64E78"/>
                </a:solidFill>
              </a:defRPr>
            </a:pPr>
            <a:r>
              <a:t>Slide 11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64E78"/>
          </a:solidFill>
          <a:ln>
            <a:solidFill>
              <a:srgbClr val="16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360" y="320040"/>
            <a:ext cx="8577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7202A"/>
                </a:solidFill>
              </a:defRPr>
            </a:pPr>
            <a:r>
              <a:t>A Safety Tool — Not An Investment Advisor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Strict boundary compliance adhering to SEBI (Investment Advisers) Regulations, 2013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754880"/>
          </a:xfrm>
          <a:prstGeom prst="roundRect">
            <a:avLst/>
          </a:prstGeom>
          <a:solidFill>
            <a:srgbClr val="FEF3F2"/>
          </a:solidFill>
          <a:ln w="12700">
            <a:solidFill>
              <a:srgbClr val="FECD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B42318"/>
                </a:solidFill>
              </a:defRPr>
            </a:pPr>
            <a:r>
              <a:t>STRICTLY PROHIBITED (NON-ADVISORY BOUNDARY)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✗ NO Stock Tips or Recommendations</a:t>
            </a:r>
            <a:br/>
            <a:r>
              <a:t>  ScamShield never tells users what stocks or securities to buy or sell.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✗ NO Buy / Sell / Hold Calls</a:t>
            </a:r>
            <a:br/>
            <a:r>
              <a:t>  No investment advisory or trade signals are generated.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✗ NO Price Targets or Projections</a:t>
            </a:r>
            <a:br/>
            <a:r>
              <a:t>  Never predicts market movements, returns, or asset values.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✗ NO Automated Trading Management</a:t>
            </a:r>
            <a:br/>
            <a:r>
              <a:t>  Does not execute trades or manage user funds.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✗ NO Broker Affiliation</a:t>
            </a:r>
            <a:br/>
            <a:r>
              <a:t>  Does not promote or favor any specific commercial broker.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280160"/>
            <a:ext cx="5212080" cy="47548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087A5B"/>
                </a:solidFill>
              </a:defRPr>
            </a:pPr>
            <a:r>
              <a:t>PERMITTED &amp; DELIVERED (SAFETY BUFFER)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✓ YES Objective Risk Signal Extraction</a:t>
            </a:r>
            <a:br/>
            <a:r>
              <a:t>  Flags guaranteed returns, urgency deadlines, and suspicious funnels.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✓ YES Regulatory Cross-Examination</a:t>
            </a:r>
            <a:br/>
            <a:r>
              <a:t>  Direct citations to SEBI, RBI, MCA, and CERT-In advisories.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✓ YES Epistemic Uncertainty Disclosures</a:t>
            </a:r>
            <a:br/>
            <a:r>
              <a:t>  Explicitly states what claims could not be verified.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✓ YES Incident Response Guidance</a:t>
            </a:r>
            <a:br/>
            <a:r>
              <a:t>  Clear 5-step containment checklist to protect compromised accounts.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✓ YES Official Helplines</a:t>
            </a:r>
            <a:br/>
            <a:r>
              <a:t>  Direct links to National Cybercrime Helpline 1930 &amp; SEBI SCORES.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5912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67085"/>
                </a:solidFill>
              </a:defRPr>
            </a:pPr>
            <a:r>
              <a:t>ScamShield Bharat — Evidence-First Investor Safety Console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35508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67085"/>
                </a:solidFill>
              </a:defRPr>
            </a:pPr>
            <a:r>
              <a:t>SANGYAN Hackathon (SNTC, IIT (BHU) × SEBI × NSDL)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55080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64E78"/>
                </a:solidFill>
              </a:defRPr>
            </a:pPr>
            <a:r>
              <a:t>Slide 12 of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64E78"/>
          </a:solidFill>
          <a:ln>
            <a:solidFill>
              <a:srgbClr val="16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360" y="320040"/>
            <a:ext cx="8577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7202A"/>
                </a:solidFill>
              </a:defRPr>
            </a:pPr>
            <a:r>
              <a:t>From One Suspicious Message to a National Safety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Clear separation between verified live prototype and future strategic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75488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C5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64E78"/>
                </a:solidFill>
              </a:defRPr>
            </a:pPr>
            <a:r>
              <a:t>LIVE PROTOTYPE (BUILT &amp; OPERATIONAL NOW)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Global Edge Deployment:</a:t>
            </a:r>
            <a:br/>
            <a:r>
              <a:t>  Live on Vercel Edge CDN with sub-3s response latency.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Multimodal Input Console:</a:t>
            </a:r>
            <a:br/>
            <a:r>
              <a:t>  Supports text messages, image screenshots, and web URLs.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Bilingual English &amp; Hindi:</a:t>
            </a:r>
            <a:br/>
            <a:r>
              <a:t>  Full UI localization and voice briefing support.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Deterministic Heuristic Engine:</a:t>
            </a:r>
            <a:br/>
            <a:r>
              <a:t>  20 risk rules and in-memory regulatory cross-exam matrix.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Hardened Security Suite:</a:t>
            </a:r>
            <a:br/>
            <a:r>
              <a:t>  79 automated tests and 54 red-team vectors validated.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280160"/>
            <a:ext cx="52120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7202A"/>
                </a:solidFill>
              </a:defRPr>
            </a:pPr>
            <a:r>
              <a:t>STRATEGIC FUTURE ROADMAP (PLANNED)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Regional Language Expansion:</a:t>
            </a:r>
            <a:br/>
            <a:r>
              <a:t>  Adding voice &amp; text support for Tamil, Telugu, Bengali, Marathi, and Gujarati.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WhatsApp &amp; Telegram Tipline Bot:</a:t>
            </a:r>
            <a:br/>
            <a:r>
              <a:t>  Direct message forwarding to verified ScamShield verification bots.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Direct SEBI Registry API Sync:</a:t>
            </a:r>
            <a:br/>
            <a:r>
              <a:t>  Live real-time querying of SEBI registered intermediary databases.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Distributed Redis Rate Limiting:</a:t>
            </a:r>
            <a:br/>
            <a:r>
              <a:t>  Upstash Redis backing for horizontal multi-million request scale.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• Offline PWA Support:</a:t>
            </a:r>
            <a:br/>
            <a:r>
              <a:t>  Client-side caching of top 100 scam patterns for offline safety.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309360"/>
            <a:ext cx="10725912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67085"/>
                </a:solidFill>
              </a:defRPr>
            </a:pPr>
            <a:r>
              <a:t>ScamShield Bharat — Evidence-First Investor Safety Console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35508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67085"/>
                </a:solidFill>
              </a:defRPr>
            </a:pPr>
            <a:r>
              <a:t>SANGYAN Hackathon (SNTC, IIT (BHU) × SEBI × NSDL)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6355080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64E78"/>
                </a:solidFill>
              </a:defRPr>
            </a:pPr>
            <a:r>
              <a:t>Slide 13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64E78"/>
          </a:solidFill>
          <a:ln>
            <a:solidFill>
              <a:srgbClr val="16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360" y="320040"/>
            <a:ext cx="8577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7202A"/>
                </a:solidFill>
              </a:defRPr>
            </a:pPr>
            <a:r>
              <a:t>See It Work — Live Production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Verify end-to-end performance on desktop or mobile in real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5912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400" b="1">
                <a:solidFill>
                  <a:srgbClr val="164E78"/>
                </a:solidFill>
              </a:defRPr>
            </a:pPr>
            <a:r>
              <a:t>RECOMMENDED JUDGING DEMO SEQUENCE</a:t>
            </a:r>
          </a:p>
          <a:p>
            <a:pPr>
              <a:defRPr sz="1150">
                <a:solidFill>
                  <a:srgbClr val="475467"/>
                </a:solidFill>
              </a:defRPr>
            </a:pPr>
            <a:r>
              <a:t>• Step 1: Open Live Application: Visit https://scamshield-bharat-kappa.vercel.app/ on desktop or mobile.</a:t>
            </a:r>
          </a:p>
          <a:p>
            <a:pPr>
              <a:defRPr sz="1150">
                <a:solidFill>
                  <a:srgbClr val="475467"/>
                </a:solidFill>
              </a:defRPr>
            </a:pPr>
            <a:r>
              <a:t>• Step 2: Load Deterministic Demo: Click 'Live Demo' or choose 'Guaranteed Return' / 'Fake KYC' / 'APK Sideload'.</a:t>
            </a:r>
          </a:p>
          <a:p>
            <a:pPr>
              <a:defRPr sz="1150">
                <a:solidFill>
                  <a:srgbClr val="475467"/>
                </a:solidFill>
              </a:defRPr>
            </a:pPr>
            <a:r>
              <a:t>• Step 3: Inspect Evidence Trail: Observe the 5-column cross-examination matrix connecting claims to SEBI advisories.</a:t>
            </a:r>
          </a:p>
          <a:p>
            <a:pPr>
              <a:defRPr sz="1150">
                <a:solidFill>
                  <a:srgbClr val="475467"/>
                </a:solidFill>
              </a:defRPr>
            </a:pPr>
            <a:r>
              <a:t>• Step 4: Toggle Bilingual Mode: Click 'हिंदी' to verify complete Devanagari translation of analysis and evidence.</a:t>
            </a:r>
          </a:p>
          <a:p>
            <a:pPr>
              <a:defRPr sz="1150">
                <a:solidFill>
                  <a:srgbClr val="475467"/>
                </a:solidFill>
              </a:defRPr>
            </a:pPr>
            <a:r>
              <a:t>• Step 5: Test Audio Briefing: Click 'Listen Audio' to hear native voice readout of safety findings.</a:t>
            </a:r>
          </a:p>
          <a:p>
            <a:pPr>
              <a:defRPr sz="1150">
                <a:solidFill>
                  <a:srgbClr val="475467"/>
                </a:solidFill>
              </a:defRPr>
            </a:pPr>
            <a:r>
              <a:t>• Step 6: Test Custom Message / Screenshot: Paste your own suspicious message or upload a forward screenshot.</a:t>
            </a:r>
          </a:p>
          <a:p>
            <a:pPr>
              <a:defRPr sz="1150">
                <a:solidFill>
                  <a:srgbClr val="475467"/>
                </a:solidFill>
              </a:defRPr>
            </a:pPr>
            <a:r>
              <a:t>• Step 7: Verify Safe Action Rail: Review the 5 containment steps and direct click-to-call 1930 Cyber Helpline.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6309360"/>
            <a:ext cx="10725912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67085"/>
                </a:solidFill>
              </a:defRPr>
            </a:pPr>
            <a:r>
              <a:t>ScamShield Bharat — Evidence-First Investor Safety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35508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67085"/>
                </a:solidFill>
              </a:defRPr>
            </a:pPr>
            <a:r>
              <a:t>SANGYAN Hackathon (SNTC, IIT (BHU) × SEBI × NSDL)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6355080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64E78"/>
                </a:solidFill>
              </a:defRPr>
            </a:pPr>
            <a:r>
              <a:t>Slide 14 of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292608"/>
          </a:xfrm>
          <a:prstGeom prst="roundRect">
            <a:avLst/>
          </a:prstGeom>
          <a:solidFill>
            <a:srgbClr val="164E78"/>
          </a:solidFill>
          <a:ln>
            <a:solidFill>
              <a:srgbClr val="16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SANGYAN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80360" y="320040"/>
            <a:ext cx="857707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7202A"/>
                </a:solidFill>
              </a:defRPr>
            </a:pPr>
            <a:r>
              <a:t>Built Around Investor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67085"/>
                </a:solidFill>
              </a:defRPr>
            </a:pPr>
            <a:r>
              <a:t>Empowering Indian citizens with an evidence-first digital defense shield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75504" cy="201168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C5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164E78"/>
                </a:solidFill>
              </a:defRPr>
            </a:pPr>
            <a:r>
              <a:t>1. PRE-TRANSACTION RESILIENCE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Prevents catastrophic capital loss at the critical decision point before money leaves.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3" y="1280160"/>
            <a:ext cx="5175504" cy="201168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C5D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164E78"/>
                </a:solidFill>
              </a:defRPr>
            </a:pPr>
            <a:r>
              <a:t>2. BHARAT-FIRST ACCESSIBILITY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Bilingual Hindi/English, spoken voice briefing, low cognitive load, and mobile-first responsiveness.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5175504" cy="2011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087A5B"/>
                </a:solidFill>
              </a:defRPr>
            </a:pPr>
            <a:r>
              <a:t>3. STRICT TRUST &amp; GUARDRAILS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Strict non-advisory boundary; in-memory PII protection; explicit uncertainty disclosure.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3" y="3429000"/>
            <a:ext cx="5175504" cy="20116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087A5B"/>
                </a:solidFill>
              </a:defRPr>
            </a:pPr>
            <a:r>
              <a:t>4. ENGINEERING RIGOR</a:t>
            </a:r>
          </a:p>
          <a:p>
            <a:br/>
            <a:pPr>
              <a:defRPr sz="1100">
                <a:solidFill>
                  <a:srgbClr val="475467"/>
                </a:solidFill>
              </a:defRPr>
            </a:pPr>
            <a:r>
              <a:t>79/79 automated tests, 54/54 red-team vectors cleared, 0 secret leaks, live Vercel production deployment.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23560"/>
            <a:ext cx="10725912" cy="594360"/>
          </a:xfrm>
          <a:prstGeom prst="roundRect">
            <a:avLst/>
          </a:prstGeom>
          <a:solidFill>
            <a:srgbClr val="164E78"/>
          </a:solidFill>
          <a:ln w="12700">
            <a:solidFill>
              <a:srgbClr val="164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SCAMSHIELD BHARAT — “Check the claim before you act.”  |  Live: scamshield-bharat-kappa.vercel.app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5912" cy="10972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4572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67085"/>
                </a:solidFill>
              </a:defRPr>
            </a:pPr>
            <a:r>
              <a:t>ScamShield Bharat — Evidence-First Investor Safety Console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355080"/>
            <a:ext cx="4114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00">
                <a:solidFill>
                  <a:srgbClr val="667085"/>
                </a:solidFill>
              </a:defRPr>
            </a:pPr>
            <a:r>
              <a:t>SANGYAN Hackathon (SNTC, IIT (BHU) × SEBI × NSDL)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355080"/>
            <a:ext cx="231343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 b="1">
                <a:solidFill>
                  <a:srgbClr val="164E78"/>
                </a:solidFill>
              </a:defRPr>
            </a:pPr>
            <a:r>
              <a:t>Slide 15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